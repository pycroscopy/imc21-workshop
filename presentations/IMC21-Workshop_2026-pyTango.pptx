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20" r:id="rId2"/>
  </p:sldMasterIdLst>
  <p:notesMasterIdLst>
    <p:notesMasterId r:id="rId10"/>
  </p:notesMasterIdLst>
  <p:sldIdLst>
    <p:sldId id="6026" r:id="rId3"/>
    <p:sldId id="6041" r:id="rId4"/>
    <p:sldId id="260" r:id="rId5"/>
    <p:sldId id="6056" r:id="rId6"/>
    <p:sldId id="6064" r:id="rId7"/>
    <p:sldId id="6065" r:id="rId8"/>
    <p:sldId id="60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8201"/>
    <a:srgbClr val="0000FF"/>
    <a:srgbClr val="000000"/>
    <a:srgbClr val="FF0000"/>
    <a:srgbClr val="EF6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0753" autoAdjust="0"/>
  </p:normalViewPr>
  <p:slideViewPr>
    <p:cSldViewPr snapToGrid="0">
      <p:cViewPr varScale="1">
        <p:scale>
          <a:sx n="83" d="100"/>
          <a:sy n="83" d="100"/>
        </p:scale>
        <p:origin x="6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09085-5465-4255-A51D-56EBA220C0E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085F9-4082-4B94-9EDF-8974727D4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1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User, microscope</a:t>
            </a:r>
          </a:p>
          <a:p>
            <a:r>
              <a:rPr lang="en-US" dirty="0"/>
              <a:t>Each box is a different server</a:t>
            </a:r>
          </a:p>
          <a:p>
            <a:r>
              <a:rPr lang="en-US" dirty="0"/>
              <a:t>Communication through </a:t>
            </a:r>
            <a:r>
              <a:rPr lang="en-US" dirty="0" err="1"/>
              <a:t>PyTango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7D415F-0246-D143-916D-035B76B6E2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13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Model + Synchronization</a:t>
            </a:r>
          </a:p>
          <a:p>
            <a:endParaRPr lang="en-US" sz="1200" dirty="0"/>
          </a:p>
          <a:p>
            <a:r>
              <a:rPr lang="en-US" sz="1200" dirty="0"/>
              <a:t>Two use cases:</a:t>
            </a:r>
          </a:p>
          <a:p>
            <a:pPr marL="342900" indent="-342900">
              <a:buAutoNum type="arabicPeriod"/>
            </a:pPr>
            <a:r>
              <a:rPr lang="en-US" sz="1200" dirty="0"/>
              <a:t>Debugging code offline</a:t>
            </a:r>
          </a:p>
          <a:p>
            <a:pPr marL="342900" indent="-342900">
              <a:buAutoNum type="arabicPeriod"/>
            </a:pPr>
            <a:r>
              <a:rPr lang="en-US" sz="1200" dirty="0"/>
              <a:t>Stable benchmark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7D415F-0246-D143-916D-035B76B6E2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77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2698750"/>
            <a:ext cx="1341967" cy="385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320800" cy="68580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prstClr val="white"/>
                </a:solidFill>
                <a:latin typeface="Georgia"/>
              </a:rPr>
              <a:t>  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3251" y="152401"/>
            <a:ext cx="6407149" cy="2968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7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21933" y="381001"/>
            <a:ext cx="9677400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0" y="1905001"/>
            <a:ext cx="9939867" cy="1470025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US" sz="5200" kern="1200" dirty="0">
                <a:solidFill>
                  <a:schemeClr val="accent1"/>
                </a:solidFill>
                <a:latin typeface="Georgia"/>
                <a:ea typeface="+mn-ea"/>
                <a:cs typeface="Georgi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4133" y="3962400"/>
            <a:ext cx="9939867" cy="1752600"/>
          </a:xfrm>
        </p:spPr>
        <p:txBody>
          <a:bodyPr>
            <a:normAutofit/>
          </a:bodyPr>
          <a:lstStyle>
            <a:lvl1pPr marL="0" indent="0" algn="ctr" defTabSz="457200" rtl="0" eaLnBrk="0" latinLnBrk="0" hangingPunct="0">
              <a:buNone/>
              <a:defRPr lang="en-US" sz="2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/>
                <a:ea typeface="+mn-e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2E3AAD-6B5C-4BCB-B21E-56129517F8E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B017-2DA8-4D57-8582-11BD8E67C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5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2E3AAD-6B5C-4BCB-B21E-56129517F8E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B017-2DA8-4D57-8582-11BD8E67C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37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2E3AAD-6B5C-4BCB-B21E-56129517F8E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B017-2DA8-4D57-8582-11BD8E67C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97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0" y="457200"/>
            <a:ext cx="9956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32000" y="1600201"/>
            <a:ext cx="467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10400" y="1600201"/>
            <a:ext cx="4978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2E3AAD-6B5C-4BCB-B21E-56129517F8E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B017-2DA8-4D57-8582-11BD8E67C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4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400" y="457200"/>
            <a:ext cx="10058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10400" y="1600200"/>
            <a:ext cx="49784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400" b="1" i="0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10400" y="2220912"/>
            <a:ext cx="4978400" cy="3951288"/>
          </a:xfrm>
        </p:spPr>
        <p:txBody>
          <a:bodyPr/>
          <a:lstStyle>
            <a:lvl1pPr>
              <a:defRPr sz="2200"/>
            </a:lvl1pPr>
            <a:lvl2pPr marL="649224">
              <a:defRPr sz="2000"/>
            </a:lvl2pPr>
            <a:lvl3pPr marL="868680">
              <a:defRPr sz="1800" b="0" i="0" cap="none" spc="50" baseline="0">
                <a:latin typeface="Arial"/>
              </a:defRPr>
            </a:lvl3pPr>
            <a:lvl4pPr marL="1143000">
              <a:defRPr sz="1600"/>
            </a:lvl4pPr>
            <a:lvl5pPr marL="1417320">
              <a:defRPr sz="1200" cap="all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981621" y="1600200"/>
            <a:ext cx="4723980" cy="574675"/>
          </a:xfrm>
        </p:spPr>
        <p:txBody>
          <a:bodyPr anchor="b">
            <a:normAutofit/>
          </a:bodyPr>
          <a:lstStyle>
            <a:lvl1pPr marL="0" indent="0">
              <a:buNone/>
              <a:defRPr sz="1400" b="1" i="0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4"/>
          </p:nvPr>
        </p:nvSpPr>
        <p:spPr>
          <a:xfrm>
            <a:off x="1981621" y="2220912"/>
            <a:ext cx="4723980" cy="3951288"/>
          </a:xfrm>
        </p:spPr>
        <p:txBody>
          <a:bodyPr/>
          <a:lstStyle>
            <a:lvl1pPr>
              <a:defRPr sz="2200"/>
            </a:lvl1pPr>
            <a:lvl2pPr marL="649224">
              <a:defRPr sz="2000"/>
            </a:lvl2pPr>
            <a:lvl3pPr marL="868680">
              <a:defRPr sz="1800" b="0" i="0" cap="none" spc="50" baseline="0">
                <a:latin typeface="Arial"/>
              </a:defRPr>
            </a:lvl3pPr>
            <a:lvl4pPr marL="1143000">
              <a:defRPr sz="1600"/>
            </a:lvl4pPr>
            <a:lvl5pPr marL="1417320">
              <a:defRPr sz="1200" cap="all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fld id="{412E3AAD-6B5C-4BCB-B21E-56129517F8E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25F0B017-2DA8-4D57-8582-11BD8E67C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2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2E3AAD-6B5C-4BCB-B21E-56129517F8E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B017-2DA8-4D57-8582-11BD8E67C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9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2E3AAD-6B5C-4BCB-B21E-56129517F8E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B017-2DA8-4D57-8582-11BD8E67C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77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401" y="273050"/>
            <a:ext cx="2690284" cy="1162050"/>
          </a:xfrm>
        </p:spPr>
        <p:txBody>
          <a:bodyPr anchor="b"/>
          <a:lstStyle>
            <a:lvl1pPr algn="r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8400" y="1219200"/>
            <a:ext cx="7018867" cy="4913484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3pPr>
              <a:defRPr sz="2200"/>
            </a:lvl3pPr>
            <a:lvl4pPr>
              <a:defRPr sz="1900"/>
            </a:lvl4pPr>
            <a:lvl5pPr>
              <a:defRPr sz="1800">
                <a:latin typeface="Arial"/>
                <a:cs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30400" y="1435101"/>
            <a:ext cx="2844800" cy="4691063"/>
          </a:xfrm>
        </p:spPr>
        <p:txBody>
          <a:bodyPr>
            <a:normAutofit/>
          </a:bodyPr>
          <a:lstStyle>
            <a:lvl1pPr marL="0" indent="0" algn="r">
              <a:buNone/>
              <a:defRPr sz="1100" cap="all" spc="50" baseline="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2E3AAD-6B5C-4BCB-B21E-56129517F8E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B017-2DA8-4D57-8582-11BD8E67C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12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400" y="4995862"/>
            <a:ext cx="9042400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30400" y="685800"/>
            <a:ext cx="9042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30400" y="5592908"/>
            <a:ext cx="9042400" cy="7316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2E3AAD-6B5C-4BCB-B21E-56129517F8E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B017-2DA8-4D57-8582-11BD8E67C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3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B3C3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FD6D08"/>
              </a:buClr>
              <a:buFont typeface="Wingdings" panose="05000000000000000000" pitchFamily="2" charset="2"/>
              <a:buChar char="§"/>
              <a:defRPr>
                <a:solidFill>
                  <a:srgbClr val="3B3C3E"/>
                </a:solidFill>
              </a:defRPr>
            </a:lvl1pPr>
            <a:lvl2pPr marL="742950" indent="-285750">
              <a:buClr>
                <a:srgbClr val="FD6D08"/>
              </a:buClr>
              <a:buFont typeface="Wingdings" panose="05000000000000000000" pitchFamily="2" charset="2"/>
              <a:buChar char="§"/>
              <a:defRPr>
                <a:solidFill>
                  <a:srgbClr val="3B3C3E"/>
                </a:solidFill>
              </a:defRPr>
            </a:lvl2pPr>
            <a:lvl3pPr marL="1143000" indent="-228600">
              <a:buClr>
                <a:srgbClr val="FD6D08"/>
              </a:buClr>
              <a:buFont typeface="Wingdings" panose="05000000000000000000" pitchFamily="2" charset="2"/>
              <a:buChar char="§"/>
              <a:defRPr>
                <a:solidFill>
                  <a:srgbClr val="3B3C3E"/>
                </a:solidFill>
              </a:defRPr>
            </a:lvl3pPr>
            <a:lvl4pPr marL="1600200" indent="-228600">
              <a:buClr>
                <a:srgbClr val="FD6D08"/>
              </a:buClr>
              <a:buFont typeface="Wingdings" panose="05000000000000000000" pitchFamily="2" charset="2"/>
              <a:buChar char="§"/>
              <a:defRPr>
                <a:solidFill>
                  <a:srgbClr val="3B3C3E"/>
                </a:solidFill>
              </a:defRPr>
            </a:lvl4pPr>
            <a:lvl5pPr marL="2057400" indent="-228600">
              <a:buClr>
                <a:srgbClr val="FD6D08"/>
              </a:buClr>
              <a:buFont typeface="Wingdings" panose="05000000000000000000" pitchFamily="2" charset="2"/>
              <a:buChar char="§"/>
              <a:defRPr>
                <a:solidFill>
                  <a:srgbClr val="3B3C3E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1" y="6356351"/>
            <a:ext cx="186381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F5BA7003-00DC-104B-92AD-B7A90026C1F9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73417" y="6356351"/>
            <a:ext cx="38608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34217" y="6356351"/>
            <a:ext cx="28448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051C7006-7120-F341-A188-F97DDD91308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46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rmAutofit/>
          </a:bodyPr>
          <a:lstStyle>
            <a:lvl1pPr algn="l">
              <a:defRPr sz="28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7003-00DC-104B-92AD-B7A90026C1F9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C7006-7120-F341-A188-F97DDD91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72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indent="-342900">
              <a:buClr>
                <a:srgbClr val="FD6D08"/>
              </a:buClr>
              <a:buFont typeface="Wingdings" panose="05000000000000000000" pitchFamily="2" charset="2"/>
              <a:buChar char="§"/>
              <a:defRPr sz="2800"/>
            </a:lvl1pPr>
            <a:lvl2pPr marL="742950" indent="-285750">
              <a:buClr>
                <a:srgbClr val="FD6D08"/>
              </a:buClr>
              <a:buFont typeface="Wingdings" panose="05000000000000000000" pitchFamily="2" charset="2"/>
              <a:buChar char="§"/>
              <a:defRPr sz="2400"/>
            </a:lvl2pPr>
            <a:lvl3pPr marL="1143000" indent="-228600">
              <a:buClr>
                <a:srgbClr val="FD6D08"/>
              </a:buClr>
              <a:buFont typeface="Wingdings" panose="05000000000000000000" pitchFamily="2" charset="2"/>
              <a:buChar char="§"/>
              <a:defRPr sz="2000"/>
            </a:lvl3pPr>
            <a:lvl4pPr marL="1600200" indent="-228600">
              <a:buClr>
                <a:srgbClr val="FD6D08"/>
              </a:buClr>
              <a:buFont typeface="Wingdings" panose="05000000000000000000" pitchFamily="2" charset="2"/>
              <a:buChar char="§"/>
              <a:defRPr sz="1800"/>
            </a:lvl4pPr>
            <a:lvl5pPr marL="2057400" indent="-228600">
              <a:buClr>
                <a:srgbClr val="FD6D08"/>
              </a:buClr>
              <a:buFont typeface="Wingdings" panose="05000000000000000000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 marL="342900" indent="-342900">
              <a:buClr>
                <a:srgbClr val="FD6D08"/>
              </a:buClr>
              <a:buFont typeface="Wingdings" panose="05000000000000000000" pitchFamily="2" charset="2"/>
              <a:buChar char="§"/>
              <a:defRPr sz="2800"/>
            </a:lvl1pPr>
            <a:lvl2pPr marL="742950" indent="-285750">
              <a:buClr>
                <a:srgbClr val="FD6D08"/>
              </a:buClr>
              <a:buFont typeface="Wingdings" panose="05000000000000000000" pitchFamily="2" charset="2"/>
              <a:buChar char="§"/>
              <a:defRPr sz="2400"/>
            </a:lvl2pPr>
            <a:lvl3pPr marL="1143000" indent="-228600">
              <a:buClr>
                <a:srgbClr val="FD6D08"/>
              </a:buClr>
              <a:buFont typeface="Wingdings" panose="05000000000000000000" pitchFamily="2" charset="2"/>
              <a:buChar char="§"/>
              <a:defRPr sz="2000"/>
            </a:lvl3pPr>
            <a:lvl4pPr marL="1600200" indent="-228600">
              <a:buClr>
                <a:srgbClr val="FD6D08"/>
              </a:buClr>
              <a:buFont typeface="Wingdings" panose="05000000000000000000" pitchFamily="2" charset="2"/>
              <a:buChar char="§"/>
              <a:defRPr sz="1800"/>
            </a:lvl4pPr>
            <a:lvl5pPr marL="2057400" indent="-228600">
              <a:buClr>
                <a:srgbClr val="FD6D08"/>
              </a:buClr>
              <a:buFont typeface="Wingdings" panose="05000000000000000000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7003-00DC-104B-92AD-B7A90026C1F9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C7006-7120-F341-A188-F97DDD91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223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 marL="342900" indent="-342900">
              <a:buClr>
                <a:srgbClr val="FD6D08"/>
              </a:buClr>
              <a:buFont typeface="Wingdings" panose="05000000000000000000" pitchFamily="2" charset="2"/>
              <a:buChar char="§"/>
              <a:defRPr sz="2400"/>
            </a:lvl1pPr>
            <a:lvl2pPr marL="742950" indent="-285750">
              <a:buClr>
                <a:srgbClr val="FD6D08"/>
              </a:buClr>
              <a:buFont typeface="Wingdings" panose="05000000000000000000" pitchFamily="2" charset="2"/>
              <a:buChar char="§"/>
              <a:defRPr sz="2000"/>
            </a:lvl2pPr>
            <a:lvl3pPr marL="1143000" indent="-228600">
              <a:buClr>
                <a:srgbClr val="FD6D08"/>
              </a:buClr>
              <a:buFont typeface="Wingdings" panose="05000000000000000000" pitchFamily="2" charset="2"/>
              <a:buChar char="§"/>
              <a:defRPr sz="1800"/>
            </a:lvl3pPr>
            <a:lvl4pPr marL="1600200" indent="-228600">
              <a:buClr>
                <a:srgbClr val="FD6D08"/>
              </a:buClr>
              <a:buFont typeface="Wingdings" panose="05000000000000000000" pitchFamily="2" charset="2"/>
              <a:buChar char="§"/>
              <a:defRPr sz="1600"/>
            </a:lvl4pPr>
            <a:lvl5pPr marL="2057400" indent="-228600">
              <a:buClr>
                <a:srgbClr val="FD6D08"/>
              </a:buClr>
              <a:buFont typeface="Wingdings" panose="05000000000000000000" pitchFamily="2" charset="2"/>
              <a:buChar char="§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 marL="342900" indent="-342900">
              <a:buClr>
                <a:srgbClr val="FD6D08"/>
              </a:buClr>
              <a:buFont typeface="Wingdings" panose="05000000000000000000" pitchFamily="2" charset="2"/>
              <a:buChar char="§"/>
              <a:defRPr sz="2400"/>
            </a:lvl1pPr>
            <a:lvl2pPr marL="742950" indent="-285750">
              <a:buClr>
                <a:srgbClr val="FD6D08"/>
              </a:buClr>
              <a:buFont typeface="Wingdings" panose="05000000000000000000" pitchFamily="2" charset="2"/>
              <a:buChar char="§"/>
              <a:defRPr sz="2000"/>
            </a:lvl2pPr>
            <a:lvl3pPr marL="1143000" indent="-228600">
              <a:buClr>
                <a:srgbClr val="FD6D08"/>
              </a:buClr>
              <a:buFont typeface="Wingdings" panose="05000000000000000000" pitchFamily="2" charset="2"/>
              <a:buChar char="§"/>
              <a:defRPr sz="1800"/>
            </a:lvl3pPr>
            <a:lvl4pPr marL="1600200" indent="-228600">
              <a:buClr>
                <a:srgbClr val="FD6D08"/>
              </a:buClr>
              <a:buFont typeface="Wingdings" panose="05000000000000000000" pitchFamily="2" charset="2"/>
              <a:buChar char="§"/>
              <a:defRPr sz="1600"/>
            </a:lvl4pPr>
            <a:lvl5pPr marL="2057400" indent="-228600">
              <a:buClr>
                <a:srgbClr val="FD6D08"/>
              </a:buClr>
              <a:buFont typeface="Wingdings" panose="05000000000000000000" pitchFamily="2" charset="2"/>
              <a:buChar char="§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7003-00DC-104B-92AD-B7A90026C1F9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C7006-7120-F341-A188-F97DDD91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69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7003-00DC-104B-92AD-B7A90026C1F9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C7006-7120-F341-A188-F97DDD91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34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736439" y="4021296"/>
            <a:ext cx="768389" cy="576105"/>
          </a:xfrm>
          <a:prstGeom prst="rect">
            <a:avLst/>
          </a:prstGeom>
          <a:solidFill>
            <a:srgbClr val="FD6D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09600" y="1449892"/>
            <a:ext cx="10972800" cy="1143000"/>
          </a:xfrm>
        </p:spPr>
        <p:txBody>
          <a:bodyPr/>
          <a:lstStyle>
            <a:lvl1pPr algn="ctr">
              <a:defRPr>
                <a:solidFill>
                  <a:srgbClr val="3B3C3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828800" y="2694276"/>
            <a:ext cx="8534400" cy="1223675"/>
          </a:xfrm>
        </p:spPr>
        <p:txBody>
          <a:bodyPr/>
          <a:lstStyle>
            <a:lvl1pPr marL="0" indent="0" algn="ctr">
              <a:buNone/>
              <a:defRPr>
                <a:solidFill>
                  <a:srgbClr val="3B3C3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 descr="UT_logo_RGB.eps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524" t="-7509" r="-4657" b="-14348"/>
          <a:stretch/>
        </p:blipFill>
        <p:spPr>
          <a:xfrm>
            <a:off x="4693920" y="4005072"/>
            <a:ext cx="2865120" cy="15179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30206"/>
            <a:ext cx="12192000" cy="527794"/>
          </a:xfrm>
          <a:prstGeom prst="rect">
            <a:avLst/>
          </a:prstGeom>
          <a:solidFill>
            <a:srgbClr val="FD6D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712688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2946-7715-468F-AC80-CFFC64CF217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D62D0-8439-4610-8038-3443D82B4A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065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A570-A0F6-414C-A085-3DC4201214E6}" type="datetimeFigureOut">
              <a:rPr lang="en-US" smtClean="0">
                <a:solidFill>
                  <a:srgbClr val="333333">
                    <a:tint val="75000"/>
                  </a:srgbClr>
                </a:solidFill>
              </a:rPr>
              <a:pPr/>
              <a:t>8/29/2026</a:t>
            </a:fld>
            <a:endParaRPr lang="en-US" dirty="0">
              <a:solidFill>
                <a:srgbClr val="333333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333333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AF46-C7E1-44DA-81B5-1D98FDDF68FB}" type="slidenum">
              <a:rPr lang="en-US" smtClean="0">
                <a:solidFill>
                  <a:srgbClr val="33333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33333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7107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2B436-E58E-BB45-8446-3F1833EEE51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9D4FC-6C9F-D447-BEA6-8D5DBF0B0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039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3.emf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930400" y="457200"/>
            <a:ext cx="10058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930400" y="1752600"/>
            <a:ext cx="10058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304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>
                    <a:tint val="75000"/>
                  </a:srgbClr>
                </a:solidFill>
                <a:latin typeface="Georgia"/>
              </a:defRPr>
            </a:lvl1pPr>
          </a:lstStyle>
          <a:p>
            <a:fld id="{412E3AAD-6B5C-4BCB-B21E-56129517F8E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784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>
                    <a:tint val="75000"/>
                  </a:srgbClr>
                </a:solidFill>
                <a:latin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>
                    <a:tint val="75000"/>
                  </a:srgbClr>
                </a:solidFill>
                <a:latin typeface="Georgia"/>
              </a:defRPr>
            </a:lvl1pPr>
          </a:lstStyle>
          <a:p>
            <a:fld id="{25F0B017-2DA8-4D57-8582-11BD8E67C66D}" type="slidenum">
              <a:rPr lang="en-US" smtClean="0"/>
              <a:t>‹#›</a:t>
            </a:fld>
            <a:endParaRPr lang="en-US"/>
          </a:p>
        </p:txBody>
      </p:sp>
      <p:pic>
        <p:nvPicPr>
          <p:cNvPr id="1031" name="Picture 7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2698750"/>
            <a:ext cx="1341967" cy="385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0" y="0"/>
            <a:ext cx="1016000" cy="68580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prstClr val="white"/>
                </a:solidFill>
                <a:latin typeface="Georgia"/>
              </a:rPr>
              <a:t>  </a:t>
            </a:r>
          </a:p>
        </p:txBody>
      </p:sp>
      <p:pic>
        <p:nvPicPr>
          <p:cNvPr id="1033" name="Picture 8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04568" y="220663"/>
            <a:ext cx="5084233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9392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kern="1200">
          <a:solidFill>
            <a:srgbClr val="666666"/>
          </a:solidFill>
          <a:latin typeface="Georgi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rgbClr val="666666"/>
          </a:solidFill>
          <a:latin typeface="Georgia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rgbClr val="666666"/>
          </a:solidFill>
          <a:latin typeface="Georgia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rgbClr val="666666"/>
          </a:solidFill>
          <a:latin typeface="Georgia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rgbClr val="666666"/>
          </a:solidFill>
          <a:latin typeface="Georgia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rgbClr val="666666"/>
          </a:solidFill>
          <a:latin typeface="Georgia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rgbClr val="666666"/>
          </a:solidFill>
          <a:latin typeface="Georgia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rgbClr val="666666"/>
          </a:solidFill>
          <a:latin typeface="Georgia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rgbClr val="666666"/>
          </a:solidFill>
          <a:latin typeface="Georgia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F79646"/>
        </a:buClr>
        <a:buFont typeface="Wingdings" pitchFamily="2" charset="2"/>
        <a:buChar char="§"/>
        <a:defRPr sz="3200" kern="1200">
          <a:solidFill>
            <a:srgbClr val="474747"/>
          </a:solidFill>
          <a:latin typeface="Georgia"/>
          <a:ea typeface="+mn-ea"/>
          <a:cs typeface="+mn-cs"/>
        </a:defRPr>
      </a:lvl1pPr>
      <a:lvl2pPr marL="64770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474747"/>
          </a:solidFill>
          <a:latin typeface="Georgia"/>
          <a:ea typeface="+mn-ea"/>
          <a:cs typeface="+mn-cs"/>
        </a:defRPr>
      </a:lvl2pPr>
      <a:lvl3pPr marL="914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474747"/>
          </a:solidFill>
          <a:latin typeface="Georgia"/>
          <a:ea typeface="+mn-ea"/>
          <a:cs typeface="+mn-cs"/>
        </a:defRPr>
      </a:lvl3pPr>
      <a:lvl4pPr marL="1233488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74747"/>
          </a:solidFill>
          <a:latin typeface="Georgia"/>
          <a:ea typeface="+mn-ea"/>
          <a:cs typeface="+mn-cs"/>
        </a:defRPr>
      </a:lvl4pPr>
      <a:lvl5pPr marL="1508125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474747"/>
          </a:solidFill>
          <a:latin typeface="Georgia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330206"/>
            <a:ext cx="12192000" cy="527794"/>
          </a:xfrm>
          <a:prstGeom prst="rect">
            <a:avLst/>
          </a:prstGeom>
          <a:solidFill>
            <a:srgbClr val="FD6D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1"/>
            <a:ext cx="1747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F5BA7003-00DC-104B-92AD-B7A90026C1F9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7079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23161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051C7006-7120-F341-A188-F97DDD91308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UT_logo_RIGHT_KNOCKOUT.eps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1398" y="6441968"/>
            <a:ext cx="1880492" cy="31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80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b="1" kern="1200">
          <a:solidFill>
            <a:srgbClr val="3B3C3E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FD6D08"/>
        </a:buClr>
        <a:buFont typeface="Wingdings" panose="05000000000000000000" pitchFamily="2" charset="2"/>
        <a:buChar char="§"/>
        <a:defRPr sz="3200" kern="1200">
          <a:solidFill>
            <a:srgbClr val="3B3C3E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FD6D08"/>
        </a:buClr>
        <a:buFont typeface="Wingdings" panose="05000000000000000000" pitchFamily="2" charset="2"/>
        <a:buChar char="§"/>
        <a:defRPr sz="2800" kern="1200">
          <a:solidFill>
            <a:srgbClr val="3B3C3E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FD6D08"/>
        </a:buClr>
        <a:buFont typeface="Wingdings" panose="05000000000000000000" pitchFamily="2" charset="2"/>
        <a:buChar char="§"/>
        <a:defRPr sz="2400" kern="1200">
          <a:solidFill>
            <a:srgbClr val="3B3C3E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FD6D08"/>
        </a:buClr>
        <a:buFont typeface="Wingdings" panose="05000000000000000000" pitchFamily="2" charset="2"/>
        <a:buChar char="§"/>
        <a:defRPr sz="2000" kern="1200">
          <a:solidFill>
            <a:srgbClr val="3B3C3E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FD6D08"/>
        </a:buClr>
        <a:buFont typeface="Wingdings" panose="05000000000000000000" pitchFamily="2" charset="2"/>
        <a:buChar char="§"/>
        <a:defRPr sz="2000" kern="1200">
          <a:solidFill>
            <a:srgbClr val="3B3C3E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3851-AD73-10A6-E399-F751BB3D5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2038350"/>
            <a:ext cx="7569200" cy="1143000"/>
          </a:xfrm>
        </p:spPr>
        <p:txBody>
          <a:bodyPr/>
          <a:lstStyle/>
          <a:p>
            <a:r>
              <a:rPr lang="en-US" dirty="0"/>
              <a:t>Building ML Controlled Instruments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4C31A7-4A0F-D44D-FE83-3559CC77CA22}"/>
              </a:ext>
            </a:extLst>
          </p:cNvPr>
          <p:cNvSpPr txBox="1"/>
          <p:nvPr/>
        </p:nvSpPr>
        <p:spPr>
          <a:xfrm>
            <a:off x="1890944" y="3746377"/>
            <a:ext cx="6221447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Goals: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a framework to unify automation of instruments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Avoid insular solutions with individual server-client interfaces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Flexible solution to be ready for advances in AI and ML tools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9B840B-FFD5-5634-D4B5-FE81C6A36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CFBF9"/>
              </a:clrFrom>
              <a:clrTo>
                <a:srgbClr val="FCFBF9">
                  <a:alpha val="0"/>
                </a:srgbClr>
              </a:clrTo>
            </a:clrChange>
          </a:blip>
          <a:srcRect l="-26" t="50000" r="67922" b="-56"/>
          <a:stretch>
            <a:fillRect/>
          </a:stretch>
        </p:blipFill>
        <p:spPr>
          <a:xfrm>
            <a:off x="-97657" y="5637319"/>
            <a:ext cx="1152787" cy="1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7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CAD3F-B617-2A22-0BE0-9F3B9947A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and Advantages of </a:t>
            </a:r>
            <a:r>
              <a:rPr lang="en-US" dirty="0" err="1"/>
              <a:t>pyTango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0277-1D93-5C09-46B3-CF7DC9F0D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Proxy server:</a:t>
            </a:r>
          </a:p>
          <a:p>
            <a:pPr marL="742950" lvl="1">
              <a:buFont typeface="Arial" panose="020B0604020202020204" pitchFamily="34" charset="0"/>
              <a:buChar char="•"/>
            </a:pPr>
            <a:r>
              <a:rPr lang="en-US" dirty="0"/>
              <a:t>Coherent API for clients</a:t>
            </a:r>
          </a:p>
          <a:p>
            <a:pPr marL="742950" lvl="1">
              <a:buFont typeface="Arial" panose="020B0604020202020204" pitchFamily="34" charset="0"/>
              <a:buChar char="•"/>
            </a:pPr>
            <a:r>
              <a:rPr lang="en-US" dirty="0"/>
              <a:t>Asynchronous server</a:t>
            </a:r>
          </a:p>
          <a:p>
            <a:pPr marL="742950" lvl="1">
              <a:buFont typeface="Arial" panose="020B0604020202020204" pitchFamily="34" charset="0"/>
              <a:buChar char="•"/>
            </a:pPr>
            <a:r>
              <a:rPr lang="en-US" dirty="0"/>
              <a:t>Enables edge computing = Smart Proxy Server</a:t>
            </a:r>
          </a:p>
          <a:p>
            <a:pPr marL="742950" lvl="1">
              <a:buFont typeface="Arial" panose="020B0604020202020204" pitchFamily="34" charset="0"/>
              <a:buChar char="•"/>
            </a:pPr>
            <a:r>
              <a:rPr lang="en-US" dirty="0"/>
              <a:t>Dynamic device-database</a:t>
            </a:r>
          </a:p>
          <a:p>
            <a:pPr marL="742950" lvl="1">
              <a:buFont typeface="Arial" panose="020B0604020202020204" pitchFamily="34" charset="0"/>
              <a:buChar char="•"/>
            </a:pPr>
            <a:r>
              <a:rPr lang="en-US" dirty="0"/>
              <a:t>Model—context server (MCP) compatible to interface with large language model</a:t>
            </a:r>
          </a:p>
          <a:p>
            <a:pPr marL="742950" lvl="1">
              <a:buFont typeface="Arial" panose="020B0604020202020204" pitchFamily="34" charset="0"/>
              <a:buChar char="•"/>
            </a:pPr>
            <a:r>
              <a:rPr lang="en-US" dirty="0"/>
              <a:t>Compatible to Bluesky-Project (orchestration – system)</a:t>
            </a:r>
          </a:p>
          <a:p>
            <a:pPr marL="742950" lvl="1">
              <a:buFont typeface="Arial" panose="020B0604020202020204" pitchFamily="34" charset="0"/>
              <a:buChar char="•"/>
            </a:pPr>
            <a:r>
              <a:rPr lang="en-US" dirty="0"/>
              <a:t>Runs more than 10k devices at synchrotrons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D5D6B6-B95F-FBDA-AACA-8B1BE7462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CFBF9"/>
              </a:clrFrom>
              <a:clrTo>
                <a:srgbClr val="FCFBF9">
                  <a:alpha val="0"/>
                </a:srgbClr>
              </a:clrTo>
            </a:clrChange>
          </a:blip>
          <a:srcRect l="-26" t="50000" r="67922" b="-56"/>
          <a:stretch>
            <a:fillRect/>
          </a:stretch>
        </p:blipFill>
        <p:spPr>
          <a:xfrm>
            <a:off x="-97657" y="5637319"/>
            <a:ext cx="1152787" cy="1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85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13D36F-80EA-9A3A-1D05-ADAA3C2213B0}"/>
              </a:ext>
            </a:extLst>
          </p:cNvPr>
          <p:cNvSpPr txBox="1"/>
          <p:nvPr/>
        </p:nvSpPr>
        <p:spPr>
          <a:xfrm>
            <a:off x="1359263" y="4826664"/>
            <a:ext cx="408432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latin typeface="+mn-lt"/>
              </a:rPr>
              <a:t>Image credit: Colin Ophus (LBNL), MRS Bulletin 2021</a:t>
            </a:r>
          </a:p>
        </p:txBody>
      </p:sp>
      <p:pic>
        <p:nvPicPr>
          <p:cNvPr id="40" name="Picture 39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66E530B7-0D0E-CFB3-B577-6A12E0CC1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774" y="905764"/>
            <a:ext cx="6519808" cy="37903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8BAB33-A4B9-8AF6-4B9A-91CC8AD5AF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2" t="8478" r="43999" b="2714"/>
          <a:stretch>
            <a:fillRect/>
          </a:stretch>
        </p:blipFill>
        <p:spPr bwMode="auto">
          <a:xfrm>
            <a:off x="1284893" y="905764"/>
            <a:ext cx="4007064" cy="3741741"/>
          </a:xfrm>
          <a:custGeom>
            <a:avLst/>
            <a:gdLst>
              <a:gd name="csX0" fmla="*/ 0 w 3646499"/>
              <a:gd name="csY0" fmla="*/ 0 h 3470326"/>
              <a:gd name="csX1" fmla="*/ 3251873 w 3646499"/>
              <a:gd name="csY1" fmla="*/ 0 h 3470326"/>
              <a:gd name="csX2" fmla="*/ 3251873 w 3646499"/>
              <a:gd name="csY2" fmla="*/ 60255 h 3470326"/>
              <a:gd name="csX3" fmla="*/ 2767928 w 3646499"/>
              <a:gd name="csY3" fmla="*/ 60255 h 3470326"/>
              <a:gd name="csX4" fmla="*/ 2767928 w 3646499"/>
              <a:gd name="csY4" fmla="*/ 303231 h 3470326"/>
              <a:gd name="csX5" fmla="*/ 3251873 w 3646499"/>
              <a:gd name="csY5" fmla="*/ 303231 h 3470326"/>
              <a:gd name="csX6" fmla="*/ 3251873 w 3646499"/>
              <a:gd name="csY6" fmla="*/ 442511 h 3470326"/>
              <a:gd name="csX7" fmla="*/ 3510248 w 3646499"/>
              <a:gd name="csY7" fmla="*/ 442511 h 3470326"/>
              <a:gd name="csX8" fmla="*/ 3510248 w 3646499"/>
              <a:gd name="csY8" fmla="*/ 783453 h 3470326"/>
              <a:gd name="csX9" fmla="*/ 3646499 w 3646499"/>
              <a:gd name="csY9" fmla="*/ 783453 h 3470326"/>
              <a:gd name="csX10" fmla="*/ 3646499 w 3646499"/>
              <a:gd name="csY10" fmla="*/ 1173836 h 3470326"/>
              <a:gd name="csX11" fmla="*/ 2906702 w 3646499"/>
              <a:gd name="csY11" fmla="*/ 1173836 h 3470326"/>
              <a:gd name="csX12" fmla="*/ 2906702 w 3646499"/>
              <a:gd name="csY12" fmla="*/ 1895862 h 3470326"/>
              <a:gd name="csX13" fmla="*/ 3646499 w 3646499"/>
              <a:gd name="csY13" fmla="*/ 1895862 h 3470326"/>
              <a:gd name="csX14" fmla="*/ 3646499 w 3646499"/>
              <a:gd name="csY14" fmla="*/ 3470326 h 3470326"/>
              <a:gd name="csX15" fmla="*/ 0 w 3646499"/>
              <a:gd name="csY15" fmla="*/ 3470326 h 34703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646499" h="3470326">
                <a:moveTo>
                  <a:pt x="0" y="0"/>
                </a:moveTo>
                <a:lnTo>
                  <a:pt x="3251873" y="0"/>
                </a:lnTo>
                <a:lnTo>
                  <a:pt x="3251873" y="60255"/>
                </a:lnTo>
                <a:lnTo>
                  <a:pt x="2767928" y="60255"/>
                </a:lnTo>
                <a:lnTo>
                  <a:pt x="2767928" y="303231"/>
                </a:lnTo>
                <a:lnTo>
                  <a:pt x="3251873" y="303231"/>
                </a:lnTo>
                <a:lnTo>
                  <a:pt x="3251873" y="442511"/>
                </a:lnTo>
                <a:lnTo>
                  <a:pt x="3510248" y="442511"/>
                </a:lnTo>
                <a:lnTo>
                  <a:pt x="3510248" y="783453"/>
                </a:lnTo>
                <a:lnTo>
                  <a:pt x="3646499" y="783453"/>
                </a:lnTo>
                <a:lnTo>
                  <a:pt x="3646499" y="1173836"/>
                </a:lnTo>
                <a:lnTo>
                  <a:pt x="2906702" y="1173836"/>
                </a:lnTo>
                <a:lnTo>
                  <a:pt x="2906702" y="1895862"/>
                </a:lnTo>
                <a:lnTo>
                  <a:pt x="3646499" y="1895862"/>
                </a:lnTo>
                <a:lnTo>
                  <a:pt x="3646499" y="3470326"/>
                </a:lnTo>
                <a:lnTo>
                  <a:pt x="0" y="3470326"/>
                </a:lnTo>
                <a:close/>
              </a:path>
            </a:pathLst>
          </a:cu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A8B77B8-1CD9-6EB8-0EEE-643518698799}"/>
              </a:ext>
            </a:extLst>
          </p:cNvPr>
          <p:cNvSpPr txBox="1"/>
          <p:nvPr/>
        </p:nvSpPr>
        <p:spPr>
          <a:xfrm>
            <a:off x="3077980" y="4696157"/>
            <a:ext cx="383291" cy="2874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1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8A9FDF-1E51-0E85-9307-318AE32170EB}"/>
              </a:ext>
            </a:extLst>
          </p:cNvPr>
          <p:cNvSpPr txBox="1"/>
          <p:nvPr/>
        </p:nvSpPr>
        <p:spPr>
          <a:xfrm>
            <a:off x="8552234" y="4696157"/>
            <a:ext cx="383291" cy="2874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1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C2D8B-2D34-AD3E-5351-DAA4C9315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473" y="21966"/>
            <a:ext cx="11157527" cy="484622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4000" dirty="0">
                <a:latin typeface="Georgia" panose="02040502050405020303" pitchFamily="18" charset="0"/>
              </a:rPr>
              <a:t>But: Many Manufacturers!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DD4A5-D3F5-FA29-760B-0B34D2E41CB1}"/>
              </a:ext>
            </a:extLst>
          </p:cNvPr>
          <p:cNvSpPr txBox="1"/>
          <p:nvPr/>
        </p:nvSpPr>
        <p:spPr>
          <a:xfrm>
            <a:off x="1284893" y="5517343"/>
            <a:ext cx="1043181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RU" sz="2000" dirty="0">
                <a:latin typeface="Georgia" panose="02040502050405020303" pitchFamily="18" charset="0"/>
              </a:rPr>
              <a:t>Instrument has detectors and cameras from multiple manufacturers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RU" sz="2000" dirty="0">
                <a:latin typeface="Georgia" panose="02040502050405020303" pitchFamily="18" charset="0"/>
              </a:rPr>
              <a:t>If you want to do anything useful, build APIs and orchestrators first!</a:t>
            </a:r>
            <a:endParaRPr lang="en-RU" altLang="en-RU" sz="2000" dirty="0">
              <a:latin typeface="Georgia" panose="020405020504050203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4F0B07-F7D8-737C-7A85-8CCDAE0DF6D2}"/>
              </a:ext>
            </a:extLst>
          </p:cNvPr>
          <p:cNvSpPr/>
          <p:nvPr/>
        </p:nvSpPr>
        <p:spPr>
          <a:xfrm>
            <a:off x="3137826" y="4782964"/>
            <a:ext cx="263597" cy="224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995A15-E615-EAFD-595C-25C8FA192A20}"/>
              </a:ext>
            </a:extLst>
          </p:cNvPr>
          <p:cNvSpPr/>
          <p:nvPr/>
        </p:nvSpPr>
        <p:spPr>
          <a:xfrm>
            <a:off x="8630879" y="4744809"/>
            <a:ext cx="263597" cy="224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C55CF-9EFB-D97F-DC6C-1FD7EEFC926F}"/>
              </a:ext>
            </a:extLst>
          </p:cNvPr>
          <p:cNvSpPr txBox="1"/>
          <p:nvPr/>
        </p:nvSpPr>
        <p:spPr>
          <a:xfrm>
            <a:off x="7475249" y="4748835"/>
            <a:ext cx="4639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tabLst>
                <a:tab pos="228600" algn="l"/>
              </a:tabLst>
              <a:defRPr/>
            </a:pPr>
            <a:r>
              <a:rPr kumimoji="0" lang="en-US" sz="1800" b="0" i="0" u="none" strike="noStrike" kern="1200" cap="small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U. Pratiush et al,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Rev. Sci. Instr.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95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(2024).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7F2DC5-905E-41C7-A6CE-DFEFC2C99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CFBF9"/>
              </a:clrFrom>
              <a:clrTo>
                <a:srgbClr val="FCFBF9">
                  <a:alpha val="0"/>
                </a:srgbClr>
              </a:clrTo>
            </a:clrChange>
          </a:blip>
          <a:srcRect l="-26" t="50000" r="67922" b="-56"/>
          <a:stretch>
            <a:fillRect/>
          </a:stretch>
        </p:blipFill>
        <p:spPr>
          <a:xfrm>
            <a:off x="-97657" y="5637319"/>
            <a:ext cx="1152787" cy="1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96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raphic 50">
            <a:extLst>
              <a:ext uri="{FF2B5EF4-FFF2-40B4-BE49-F238E27FC236}">
                <a16:creationId xmlns:a16="http://schemas.microsoft.com/office/drawing/2014/main" id="{FA2B979E-CA2D-66C1-13D9-54D9FA9A41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86" y="5735966"/>
            <a:ext cx="1716501" cy="53640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58860FC-8FE7-9E16-8E15-C72851C163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081"/>
          <a:stretch>
            <a:fillRect/>
          </a:stretch>
        </p:blipFill>
        <p:spPr>
          <a:xfrm>
            <a:off x="17537" y="4364723"/>
            <a:ext cx="1741645" cy="1357084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78656201-5F56-6F51-5945-41053E1580EC}"/>
              </a:ext>
            </a:extLst>
          </p:cNvPr>
          <p:cNvSpPr/>
          <p:nvPr/>
        </p:nvSpPr>
        <p:spPr>
          <a:xfrm>
            <a:off x="6639261" y="-1694"/>
            <a:ext cx="5526106" cy="1016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C7E11B-0CDA-C674-C4B5-2DD8086E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31" y="16846"/>
            <a:ext cx="10202041" cy="1106214"/>
          </a:xfrm>
        </p:spPr>
        <p:txBody>
          <a:bodyPr/>
          <a:lstStyle/>
          <a:p>
            <a:r>
              <a:rPr lang="en-US" dirty="0" err="1"/>
              <a:t>Asyncroscopy</a:t>
            </a:r>
            <a:r>
              <a:rPr lang="en-US" dirty="0"/>
              <a:t>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43E89-0320-5941-046F-9866147AD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6740" y="6332590"/>
            <a:ext cx="2885426" cy="353374"/>
          </a:xfrm>
        </p:spPr>
        <p:txBody>
          <a:bodyPr/>
          <a:lstStyle/>
          <a:p>
            <a:fld id="{76CB29BB-9BE4-F842-B14B-FDC755B9CEFD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 descr="A close-up of a machine&#10;&#10;AI-generated content may be incorrect.">
            <a:extLst>
              <a:ext uri="{FF2B5EF4-FFF2-40B4-BE49-F238E27FC236}">
                <a16:creationId xmlns:a16="http://schemas.microsoft.com/office/drawing/2014/main" id="{233DB8F1-879F-7C9B-7B9B-AFD52B8A75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6" r="10187" b="2237"/>
          <a:stretch>
            <a:fillRect/>
          </a:stretch>
        </p:blipFill>
        <p:spPr>
          <a:xfrm>
            <a:off x="9770691" y="309698"/>
            <a:ext cx="1994382" cy="5006139"/>
          </a:xfrm>
          <a:prstGeom prst="rect">
            <a:avLst/>
          </a:prstGeom>
          <a:ln>
            <a:noFill/>
          </a:ln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A9BACDE-4680-4B95-98E3-9530BFB42004}"/>
              </a:ext>
            </a:extLst>
          </p:cNvPr>
          <p:cNvSpPr/>
          <p:nvPr/>
        </p:nvSpPr>
        <p:spPr>
          <a:xfrm>
            <a:off x="1191658" y="2207587"/>
            <a:ext cx="1423048" cy="510560"/>
          </a:xfrm>
          <a:prstGeom prst="roundRect">
            <a:avLst>
              <a:gd name="adj" fmla="val 0"/>
            </a:avLst>
          </a:prstGeom>
          <a:solidFill>
            <a:srgbClr val="B2DFDB"/>
          </a:solidFill>
          <a:ln w="12700">
            <a:solidFill>
              <a:srgbClr val="15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LLM Agent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60F975-40B0-536B-77B4-2430694C5904}"/>
              </a:ext>
            </a:extLst>
          </p:cNvPr>
          <p:cNvSpPr/>
          <p:nvPr/>
        </p:nvSpPr>
        <p:spPr>
          <a:xfrm>
            <a:off x="1191658" y="1044597"/>
            <a:ext cx="1423048" cy="881186"/>
          </a:xfrm>
          <a:prstGeom prst="roundRect">
            <a:avLst>
              <a:gd name="adj" fmla="val 0"/>
            </a:avLst>
          </a:prstGeom>
          <a:solidFill>
            <a:srgbClr val="FFE0B2"/>
          </a:solidFill>
          <a:ln w="12700">
            <a:solidFill>
              <a:srgbClr val="FB9A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 Context Protocol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3DEF58A-8BE6-AB03-02D6-A8E967DD09E6}"/>
              </a:ext>
            </a:extLst>
          </p:cNvPr>
          <p:cNvGrpSpPr/>
          <p:nvPr/>
        </p:nvGrpSpPr>
        <p:grpSpPr>
          <a:xfrm>
            <a:off x="1420644" y="3078034"/>
            <a:ext cx="970579" cy="1335770"/>
            <a:chOff x="223385" y="2874907"/>
            <a:chExt cx="956914" cy="138019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1334870-637D-2DB8-7389-B71F4A59A099}"/>
                </a:ext>
              </a:extLst>
            </p:cNvPr>
            <p:cNvGrpSpPr/>
            <p:nvPr/>
          </p:nvGrpSpPr>
          <p:grpSpPr>
            <a:xfrm>
              <a:off x="223385" y="2874907"/>
              <a:ext cx="956914" cy="1380190"/>
              <a:chOff x="223385" y="2874907"/>
              <a:chExt cx="956914" cy="1380190"/>
            </a:xfrm>
          </p:grpSpPr>
          <p:pic>
            <p:nvPicPr>
              <p:cNvPr id="11" name="Graphic 10" descr="Programmer male with solid fill">
                <a:extLst>
                  <a:ext uri="{FF2B5EF4-FFF2-40B4-BE49-F238E27FC236}">
                    <a16:creationId xmlns:a16="http://schemas.microsoft.com/office/drawing/2014/main" id="{BEAAC566-1FD5-1311-6D3E-BD07027E2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46517" y="3293126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7BC5845D-3324-DAB0-FC66-0CC548F3D3F4}"/>
                  </a:ext>
                </a:extLst>
              </p:cNvPr>
              <p:cNvSpPr/>
              <p:nvPr/>
            </p:nvSpPr>
            <p:spPr>
              <a:xfrm>
                <a:off x="223385" y="2874907"/>
                <a:ext cx="956914" cy="1380190"/>
              </a:xfrm>
              <a:prstGeom prst="roundRect">
                <a:avLst>
                  <a:gd name="adj" fmla="val 0"/>
                </a:avLst>
              </a:prstGeom>
              <a:solidFill>
                <a:schemeClr val="bg2">
                  <a:lumMod val="50000"/>
                  <a:alpha val="10000"/>
                </a:schemeClr>
              </a:solidFill>
              <a:ln w="12700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AA80AFA-2ACE-6440-D50B-2EB204C0D167}"/>
                </a:ext>
              </a:extLst>
            </p:cNvPr>
            <p:cNvSpPr txBox="1"/>
            <p:nvPr/>
          </p:nvSpPr>
          <p:spPr>
            <a:xfrm>
              <a:off x="310548" y="2971062"/>
              <a:ext cx="7825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Client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E7D74D-8A7F-982D-4610-FE47C99EADC2}"/>
              </a:ext>
            </a:extLst>
          </p:cNvPr>
          <p:cNvGrpSpPr/>
          <p:nvPr/>
        </p:nvGrpSpPr>
        <p:grpSpPr>
          <a:xfrm>
            <a:off x="3213075" y="3046696"/>
            <a:ext cx="2118566" cy="1381377"/>
            <a:chOff x="2187950" y="2830362"/>
            <a:chExt cx="2088737" cy="14273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BFC5D7-8FE0-712A-9222-57FFBC160F9F}"/>
                </a:ext>
              </a:extLst>
            </p:cNvPr>
            <p:cNvSpPr/>
            <p:nvPr/>
          </p:nvSpPr>
          <p:spPr>
            <a:xfrm>
              <a:off x="2187950" y="2830362"/>
              <a:ext cx="1908906" cy="14273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Electron Microscope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41EAE045-592C-D8C4-FD6B-334C1FC55491}"/>
                </a:ext>
              </a:extLst>
            </p:cNvPr>
            <p:cNvSpPr/>
            <p:nvPr/>
          </p:nvSpPr>
          <p:spPr>
            <a:xfrm>
              <a:off x="2367780" y="3552646"/>
              <a:ext cx="1908907" cy="527538"/>
            </a:xfrm>
            <a:prstGeom prst="roundRect">
              <a:avLst>
                <a:gd name="adj" fmla="val 0"/>
              </a:avLst>
            </a:prstGeom>
            <a:solidFill>
              <a:srgbClr val="BCDEFB"/>
            </a:solidFill>
            <a:ln w="12700">
              <a:solidFill>
                <a:srgbClr val="418E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Instrument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E0F675-ABD2-3416-D950-F18171872D6C}"/>
              </a:ext>
            </a:extLst>
          </p:cNvPr>
          <p:cNvGrpSpPr/>
          <p:nvPr/>
        </p:nvGrpSpPr>
        <p:grpSpPr>
          <a:xfrm>
            <a:off x="6920009" y="262097"/>
            <a:ext cx="2206544" cy="5179084"/>
            <a:chOff x="5375018" y="529730"/>
            <a:chExt cx="2175477" cy="5351309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544D8298-F76D-3906-F3E3-9346A4A7C3C6}"/>
                </a:ext>
              </a:extLst>
            </p:cNvPr>
            <p:cNvSpPr/>
            <p:nvPr/>
          </p:nvSpPr>
          <p:spPr>
            <a:xfrm>
              <a:off x="5689139" y="4970550"/>
              <a:ext cx="1861355" cy="910489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Gatan Server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07B090B0-D21E-C564-9741-0E69D87906D2}"/>
                </a:ext>
              </a:extLst>
            </p:cNvPr>
            <p:cNvSpPr/>
            <p:nvPr/>
          </p:nvSpPr>
          <p:spPr>
            <a:xfrm>
              <a:off x="5689139" y="3847574"/>
              <a:ext cx="1861355" cy="910489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Ceos Corrector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E0C1ADB6-9984-3475-6445-CCD2D69ADCE8}"/>
                </a:ext>
              </a:extLst>
            </p:cNvPr>
            <p:cNvSpPr/>
            <p:nvPr/>
          </p:nvSpPr>
          <p:spPr>
            <a:xfrm>
              <a:off x="5689140" y="2724598"/>
              <a:ext cx="1861355" cy="910489"/>
            </a:xfrm>
            <a:prstGeom prst="roundRect">
              <a:avLst>
                <a:gd name="adj" fmla="val 0"/>
              </a:avLst>
            </a:prstGeom>
            <a:solidFill>
              <a:srgbClr val="F9BCD1"/>
            </a:solidFill>
            <a:ln w="12700">
              <a:solidFill>
                <a:srgbClr val="CC4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AutoScript Mic.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C82195F2-43B6-8573-33F3-4562A932427B}"/>
                </a:ext>
              </a:extLst>
            </p:cNvPr>
            <p:cNvSpPr/>
            <p:nvPr/>
          </p:nvSpPr>
          <p:spPr>
            <a:xfrm>
              <a:off x="5689140" y="1627023"/>
              <a:ext cx="1861355" cy="910489"/>
            </a:xfrm>
            <a:prstGeom prst="roundRect">
              <a:avLst>
                <a:gd name="adj" fmla="val 0"/>
              </a:avLst>
            </a:prstGeom>
            <a:solidFill>
              <a:srgbClr val="F9BCD1"/>
            </a:solidFill>
            <a:ln w="12700">
              <a:solidFill>
                <a:srgbClr val="CC4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AutoScript Stage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8478C0E3-E317-73EF-1833-91029716216E}"/>
                </a:ext>
              </a:extLst>
            </p:cNvPr>
            <p:cNvSpPr/>
            <p:nvPr/>
          </p:nvSpPr>
          <p:spPr>
            <a:xfrm>
              <a:off x="5689140" y="529730"/>
              <a:ext cx="1861355" cy="910489"/>
            </a:xfrm>
            <a:prstGeom prst="roundRect">
              <a:avLst>
                <a:gd name="adj" fmla="val 0"/>
              </a:avLst>
            </a:prstGeom>
            <a:solidFill>
              <a:srgbClr val="F9BCD1"/>
            </a:solidFill>
            <a:ln w="12700">
              <a:solidFill>
                <a:srgbClr val="CC4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AutoScript Scan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04538B2C-FD81-99E8-E3B9-219D353C8B90}"/>
                </a:ext>
              </a:extLst>
            </p:cNvPr>
            <p:cNvSpPr/>
            <p:nvPr/>
          </p:nvSpPr>
          <p:spPr>
            <a:xfrm>
              <a:off x="5375020" y="1955475"/>
              <a:ext cx="1908907" cy="527538"/>
            </a:xfrm>
            <a:prstGeom prst="roundRect">
              <a:avLst>
                <a:gd name="adj" fmla="val 0"/>
              </a:avLst>
            </a:prstGeom>
            <a:solidFill>
              <a:srgbClr val="BCDEFB"/>
            </a:solidFill>
            <a:ln w="12700">
              <a:solidFill>
                <a:srgbClr val="418E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Stage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F5E07060-28AB-F674-F532-1CD6D3386EB7}"/>
                </a:ext>
              </a:extLst>
            </p:cNvPr>
            <p:cNvSpPr/>
            <p:nvPr/>
          </p:nvSpPr>
          <p:spPr>
            <a:xfrm>
              <a:off x="5375018" y="5282340"/>
              <a:ext cx="1908907" cy="527538"/>
            </a:xfrm>
            <a:prstGeom prst="roundRect">
              <a:avLst>
                <a:gd name="adj" fmla="val 0"/>
              </a:avLst>
            </a:prstGeom>
            <a:solidFill>
              <a:srgbClr val="BCDEFB"/>
            </a:solidFill>
            <a:ln w="12700">
              <a:solidFill>
                <a:srgbClr val="418E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EELS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8CF0B81E-611E-3FBC-1A2F-CFC658506CD1}"/>
                </a:ext>
              </a:extLst>
            </p:cNvPr>
            <p:cNvSpPr/>
            <p:nvPr/>
          </p:nvSpPr>
          <p:spPr>
            <a:xfrm>
              <a:off x="5375019" y="3064430"/>
              <a:ext cx="1908907" cy="527538"/>
            </a:xfrm>
            <a:prstGeom prst="roundRect">
              <a:avLst>
                <a:gd name="adj" fmla="val 0"/>
              </a:avLst>
            </a:prstGeom>
            <a:solidFill>
              <a:srgbClr val="BCDEFB"/>
            </a:solidFill>
            <a:ln w="12700">
              <a:solidFill>
                <a:srgbClr val="418E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Microscope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C3525FB1-CB33-A63A-5D5E-8057251A8C9A}"/>
                </a:ext>
              </a:extLst>
            </p:cNvPr>
            <p:cNvSpPr/>
            <p:nvPr/>
          </p:nvSpPr>
          <p:spPr>
            <a:xfrm>
              <a:off x="5375018" y="846520"/>
              <a:ext cx="1908907" cy="527538"/>
            </a:xfrm>
            <a:prstGeom prst="roundRect">
              <a:avLst>
                <a:gd name="adj" fmla="val 0"/>
              </a:avLst>
            </a:prstGeom>
            <a:solidFill>
              <a:srgbClr val="BCDEFB"/>
            </a:solidFill>
            <a:ln w="12700">
              <a:solidFill>
                <a:srgbClr val="418E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Scan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6E59F60B-DAB3-9F96-AF81-07A658E1D27A}"/>
                </a:ext>
              </a:extLst>
            </p:cNvPr>
            <p:cNvSpPr/>
            <p:nvPr/>
          </p:nvSpPr>
          <p:spPr>
            <a:xfrm>
              <a:off x="5375018" y="4173385"/>
              <a:ext cx="1908907" cy="527538"/>
            </a:xfrm>
            <a:prstGeom prst="roundRect">
              <a:avLst>
                <a:gd name="adj" fmla="val 0"/>
              </a:avLst>
            </a:prstGeom>
            <a:solidFill>
              <a:srgbClr val="BCDEFB"/>
            </a:solidFill>
            <a:ln w="12700">
              <a:solidFill>
                <a:srgbClr val="418E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Aberration Corrector</a:t>
              </a: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495D555-45C8-EC40-D481-5F1188091F77}"/>
              </a:ext>
            </a:extLst>
          </p:cNvPr>
          <p:cNvCxnSpPr>
            <a:cxnSpLocks/>
            <a:stCxn id="15" idx="3"/>
            <a:endCxn id="25" idx="1"/>
          </p:cNvCxnSpPr>
          <p:nvPr/>
        </p:nvCxnSpPr>
        <p:spPr>
          <a:xfrm flipV="1">
            <a:off x="5331641" y="823972"/>
            <a:ext cx="1588368" cy="3177042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411521A-90D7-1747-301E-73828DB526AD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 flipV="1">
            <a:off x="5331641" y="1897236"/>
            <a:ext cx="1588370" cy="2103778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3A7BB88-419E-BAD9-E43B-FC6B38264D2D}"/>
              </a:ext>
            </a:extLst>
          </p:cNvPr>
          <p:cNvCxnSpPr>
            <a:cxnSpLocks/>
            <a:stCxn id="15" idx="3"/>
            <a:endCxn id="24" idx="1"/>
          </p:cNvCxnSpPr>
          <p:nvPr/>
        </p:nvCxnSpPr>
        <p:spPr>
          <a:xfrm flipV="1">
            <a:off x="5331641" y="2970501"/>
            <a:ext cx="1588369" cy="1030513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F31ABA-A5F9-9C9E-AAB7-902F4F76F6AC}"/>
              </a:ext>
            </a:extLst>
          </p:cNvPr>
          <p:cNvCxnSpPr>
            <a:cxnSpLocks/>
            <a:stCxn id="15" idx="3"/>
            <a:endCxn id="26" idx="1"/>
          </p:cNvCxnSpPr>
          <p:nvPr/>
        </p:nvCxnSpPr>
        <p:spPr>
          <a:xfrm>
            <a:off x="5331641" y="4001014"/>
            <a:ext cx="1588368" cy="42752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8CF02AB-8A58-0E16-AF73-7E4EC9DECB0C}"/>
              </a:ext>
            </a:extLst>
          </p:cNvPr>
          <p:cNvCxnSpPr>
            <a:cxnSpLocks/>
            <a:stCxn id="15" idx="3"/>
            <a:endCxn id="23" idx="1"/>
          </p:cNvCxnSpPr>
          <p:nvPr/>
        </p:nvCxnSpPr>
        <p:spPr>
          <a:xfrm>
            <a:off x="5331641" y="4001014"/>
            <a:ext cx="1588368" cy="1116016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774F081-C448-35BB-F1B9-9D310BD72DBD}"/>
              </a:ext>
            </a:extLst>
          </p:cNvPr>
          <p:cNvGrpSpPr/>
          <p:nvPr/>
        </p:nvGrpSpPr>
        <p:grpSpPr>
          <a:xfrm>
            <a:off x="6920008" y="5687292"/>
            <a:ext cx="2206543" cy="1011116"/>
            <a:chOff x="2756514" y="5305267"/>
            <a:chExt cx="2175476" cy="1044740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CE08C0D3-EF60-90AD-D903-B07AEA05DC93}"/>
                </a:ext>
              </a:extLst>
            </p:cNvPr>
            <p:cNvSpPr/>
            <p:nvPr/>
          </p:nvSpPr>
          <p:spPr>
            <a:xfrm>
              <a:off x="2756514" y="5305267"/>
              <a:ext cx="2007967" cy="1044740"/>
            </a:xfrm>
            <a:prstGeom prst="roundRect">
              <a:avLst>
                <a:gd name="adj" fmla="val 0"/>
              </a:avLst>
            </a:prstGeom>
            <a:solidFill>
              <a:srgbClr val="BCDEFB"/>
            </a:solidFill>
            <a:ln w="12700">
              <a:solidFill>
                <a:srgbClr val="418E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Tiled Data Server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FCEA444A-E7BB-21E2-22F9-D26897374B28}"/>
                </a:ext>
              </a:extLst>
            </p:cNvPr>
            <p:cNvSpPr/>
            <p:nvPr/>
          </p:nvSpPr>
          <p:spPr>
            <a:xfrm>
              <a:off x="3024667" y="5659544"/>
              <a:ext cx="1907323" cy="527538"/>
            </a:xfrm>
            <a:prstGeom prst="roundRect">
              <a:avLst>
                <a:gd name="adj" fmla="val 0"/>
              </a:avLst>
            </a:prstGeom>
            <a:solidFill>
              <a:srgbClr val="FFE0B2"/>
            </a:solidFill>
            <a:ln w="12700">
              <a:solidFill>
                <a:srgbClr val="FB9A2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Local data</a:t>
              </a:r>
            </a:p>
          </p:txBody>
        </p:sp>
      </p:grpSp>
      <p:sp>
        <p:nvSpPr>
          <p:cNvPr id="35" name="Bent-Up Arrow 34">
            <a:extLst>
              <a:ext uri="{FF2B5EF4-FFF2-40B4-BE49-F238E27FC236}">
                <a16:creationId xmlns:a16="http://schemas.microsoft.com/office/drawing/2014/main" id="{E6FE7007-5A30-E66B-C50C-BB873AAF58D2}"/>
              </a:ext>
            </a:extLst>
          </p:cNvPr>
          <p:cNvSpPr/>
          <p:nvPr/>
        </p:nvSpPr>
        <p:spPr>
          <a:xfrm rot="5400000" flipV="1">
            <a:off x="9248758" y="5041276"/>
            <a:ext cx="1383232" cy="1605184"/>
          </a:xfrm>
          <a:prstGeom prst="bentUpArrow">
            <a:avLst>
              <a:gd name="adj1" fmla="val 12396"/>
              <a:gd name="adj2" fmla="val 17527"/>
              <a:gd name="adj3" fmla="val 20072"/>
            </a:avLst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Bent-Up Arrow 35">
            <a:extLst>
              <a:ext uri="{FF2B5EF4-FFF2-40B4-BE49-F238E27FC236}">
                <a16:creationId xmlns:a16="http://schemas.microsoft.com/office/drawing/2014/main" id="{503FEDA4-C969-17A3-0277-DC4B9BBDA87A}"/>
              </a:ext>
            </a:extLst>
          </p:cNvPr>
          <p:cNvSpPr/>
          <p:nvPr/>
        </p:nvSpPr>
        <p:spPr>
          <a:xfrm rot="10800000" flipV="1">
            <a:off x="1599872" y="4557916"/>
            <a:ext cx="5300177" cy="1880861"/>
          </a:xfrm>
          <a:prstGeom prst="bentUpArrow">
            <a:avLst>
              <a:gd name="adj1" fmla="val 7019"/>
              <a:gd name="adj2" fmla="val 8971"/>
              <a:gd name="adj3" fmla="val 12281"/>
            </a:avLst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18A895-1495-C53D-F519-45E2B3D7E715}"/>
              </a:ext>
            </a:extLst>
          </p:cNvPr>
          <p:cNvSpPr txBox="1"/>
          <p:nvPr/>
        </p:nvSpPr>
        <p:spPr>
          <a:xfrm>
            <a:off x="1982819" y="5581436"/>
            <a:ext cx="4072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Separate data pipeline allows faster, asynchronous data streaming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09A169E-68B6-5F22-125F-7EC69CDD7498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2391223" y="3737385"/>
            <a:ext cx="821852" cy="8534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97C4D4A-2027-1812-3FF7-46EC3E1B49CF}"/>
              </a:ext>
            </a:extLst>
          </p:cNvPr>
          <p:cNvSpPr/>
          <p:nvPr/>
        </p:nvSpPr>
        <p:spPr>
          <a:xfrm>
            <a:off x="3563924" y="1656209"/>
            <a:ext cx="2163548" cy="1070299"/>
          </a:xfrm>
          <a:prstGeom prst="roundRect">
            <a:avLst>
              <a:gd name="adj" fmla="val 0"/>
            </a:avLst>
          </a:prstGeom>
          <a:solidFill>
            <a:srgbClr val="FFE0B2"/>
          </a:solidFill>
          <a:ln w="12700">
            <a:solidFill>
              <a:srgbClr val="FB9A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All communication (arrows) via </a:t>
            </a:r>
            <a:r>
              <a:rPr lang="en-US" dirty="0" err="1">
                <a:solidFill>
                  <a:schemeClr val="tx1"/>
                </a:solidFill>
              </a:rPr>
              <a:t>PyTango</a:t>
            </a:r>
            <a:r>
              <a:rPr lang="en-US" dirty="0">
                <a:solidFill>
                  <a:schemeClr val="tx1"/>
                </a:solidFill>
              </a:rPr>
              <a:t> database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D650A11-9D5D-05D4-BEBB-FEDF7EF77205}"/>
              </a:ext>
            </a:extLst>
          </p:cNvPr>
          <p:cNvCxnSpPr>
            <a:cxnSpLocks/>
            <a:stCxn id="7" idx="3"/>
            <a:endCxn id="39" idx="1"/>
          </p:cNvCxnSpPr>
          <p:nvPr/>
        </p:nvCxnSpPr>
        <p:spPr>
          <a:xfrm>
            <a:off x="2614706" y="1485190"/>
            <a:ext cx="949218" cy="706169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248A90D-ED60-8A2B-C2FF-48F2FDA403A1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1903182" y="1925783"/>
            <a:ext cx="0" cy="281804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E33471F-FC13-342F-9A51-3D98A788BC10}"/>
              </a:ext>
            </a:extLst>
          </p:cNvPr>
          <p:cNvCxnSpPr>
            <a:cxnSpLocks/>
            <a:stCxn id="12" idx="0"/>
            <a:endCxn id="6" idx="2"/>
          </p:cNvCxnSpPr>
          <p:nvPr/>
        </p:nvCxnSpPr>
        <p:spPr>
          <a:xfrm flipH="1" flipV="1">
            <a:off x="1903182" y="2718147"/>
            <a:ext cx="2752" cy="359887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9146F75-54F3-AECE-3E95-BA38B6F19080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9126553" y="545117"/>
            <a:ext cx="825121" cy="157573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EF6E3A9-BD59-AEEF-5B9A-AD5FC32FD57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9126553" y="1642409"/>
            <a:ext cx="825121" cy="122259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166B6E3-E2DB-A934-B393-BD5FE354FF26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9126553" y="2739500"/>
            <a:ext cx="412560" cy="87419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24DE73F-C968-99F4-A3A3-EBAFE7F42F16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9126552" y="3862961"/>
            <a:ext cx="897399" cy="50792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465B372-7FBB-6C8D-9DA7-6523CF36D045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9126552" y="4985936"/>
            <a:ext cx="897399" cy="14652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9B8FA48-B0D8-7633-B876-3F77BE946C62}"/>
              </a:ext>
            </a:extLst>
          </p:cNvPr>
          <p:cNvSpPr txBox="1"/>
          <p:nvPr/>
        </p:nvSpPr>
        <p:spPr>
          <a:xfrm>
            <a:off x="9159306" y="3054415"/>
            <a:ext cx="1050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Vendor</a:t>
            </a:r>
          </a:p>
          <a:p>
            <a:pPr algn="ctr"/>
            <a:r>
              <a:rPr lang="en-US" dirty="0"/>
              <a:t>agnostic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A177C68-AF03-C516-DA63-B19412FA344A}"/>
              </a:ext>
            </a:extLst>
          </p:cNvPr>
          <p:cNvSpPr/>
          <p:nvPr/>
        </p:nvSpPr>
        <p:spPr>
          <a:xfrm>
            <a:off x="1176185" y="1035873"/>
            <a:ext cx="1422501" cy="886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88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D82F7-603A-5DC9-7389-1D5F43358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0E5F0-FF69-AD2E-E743-0288D40D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6026" y="253013"/>
            <a:ext cx="10058400" cy="1143000"/>
          </a:xfrm>
        </p:spPr>
        <p:txBody>
          <a:bodyPr/>
          <a:lstStyle/>
          <a:p>
            <a:r>
              <a:rPr lang="en-US" dirty="0"/>
              <a:t>Digital Twins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62466-9DA0-8C04-DC43-C2189C9F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29928" y="6356351"/>
            <a:ext cx="2844800" cy="365125"/>
          </a:xfrm>
        </p:spPr>
        <p:txBody>
          <a:bodyPr/>
          <a:lstStyle/>
          <a:p>
            <a:fld id="{76CB29BB-9BE4-F842-B14B-FDC755B9CEFD}" type="slidenum">
              <a:rPr lang="en-US" smtClean="0"/>
              <a:t>5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731284-54EB-251A-66C7-522F0E2A0008}"/>
              </a:ext>
            </a:extLst>
          </p:cNvPr>
          <p:cNvGrpSpPr/>
          <p:nvPr/>
        </p:nvGrpSpPr>
        <p:grpSpPr>
          <a:xfrm>
            <a:off x="1176185" y="0"/>
            <a:ext cx="11801437" cy="6733920"/>
            <a:chOff x="1238328" y="0"/>
            <a:chExt cx="11801437" cy="673392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3A46883-8FBB-0A00-52D0-168DEDB3D9AC}"/>
                </a:ext>
              </a:extLst>
            </p:cNvPr>
            <p:cNvSpPr/>
            <p:nvPr/>
          </p:nvSpPr>
          <p:spPr>
            <a:xfrm>
              <a:off x="6743701" y="0"/>
              <a:ext cx="6296064" cy="10508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60BBD6C-6238-E0F1-2065-7C8BBABE9A98}"/>
                </a:ext>
              </a:extLst>
            </p:cNvPr>
            <p:cNvSpPr/>
            <p:nvPr/>
          </p:nvSpPr>
          <p:spPr>
            <a:xfrm>
              <a:off x="1238328" y="2226121"/>
              <a:ext cx="1403012" cy="527538"/>
            </a:xfrm>
            <a:prstGeom prst="roundRect">
              <a:avLst>
                <a:gd name="adj" fmla="val 0"/>
              </a:avLst>
            </a:prstGeom>
            <a:solidFill>
              <a:srgbClr val="B2DFDB"/>
            </a:solidFill>
            <a:ln w="12700">
              <a:solidFill>
                <a:srgbClr val="159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LLM Agent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CA3CEFA-F434-DAFB-5345-80145C088A7D}"/>
                </a:ext>
              </a:extLst>
            </p:cNvPr>
            <p:cNvSpPr/>
            <p:nvPr/>
          </p:nvSpPr>
          <p:spPr>
            <a:xfrm>
              <a:off x="1238328" y="1050806"/>
              <a:ext cx="1403012" cy="910489"/>
            </a:xfrm>
            <a:prstGeom prst="roundRect">
              <a:avLst>
                <a:gd name="adj" fmla="val 0"/>
              </a:avLst>
            </a:prstGeom>
            <a:solidFill>
              <a:srgbClr val="FFE0B2"/>
            </a:solidFill>
            <a:ln w="12700">
              <a:solidFill>
                <a:srgbClr val="FB9A2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Model Context Protocol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646E21F-5154-666D-2162-503E825EAE7B}"/>
                </a:ext>
              </a:extLst>
            </p:cNvPr>
            <p:cNvGrpSpPr/>
            <p:nvPr/>
          </p:nvGrpSpPr>
          <p:grpSpPr>
            <a:xfrm>
              <a:off x="1460943" y="3069126"/>
              <a:ext cx="956914" cy="1380190"/>
              <a:chOff x="223385" y="2874907"/>
              <a:chExt cx="956914" cy="138019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D04444B-3B56-391A-4BC2-B3AF2307E720}"/>
                  </a:ext>
                </a:extLst>
              </p:cNvPr>
              <p:cNvGrpSpPr/>
              <p:nvPr/>
            </p:nvGrpSpPr>
            <p:grpSpPr>
              <a:xfrm>
                <a:off x="223385" y="2874907"/>
                <a:ext cx="956914" cy="1380190"/>
                <a:chOff x="223385" y="2874907"/>
                <a:chExt cx="956914" cy="1380190"/>
              </a:xfrm>
            </p:grpSpPr>
            <p:pic>
              <p:nvPicPr>
                <p:cNvPr id="11" name="Graphic 10" descr="Programmer male with solid fill">
                  <a:extLst>
                    <a:ext uri="{FF2B5EF4-FFF2-40B4-BE49-F238E27FC236}">
                      <a16:creationId xmlns:a16="http://schemas.microsoft.com/office/drawing/2014/main" id="{8BA696BF-4080-120E-EBD8-79D48E0BE8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6517" y="3293126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2" name="Rounded Rectangle 11">
                  <a:extLst>
                    <a:ext uri="{FF2B5EF4-FFF2-40B4-BE49-F238E27FC236}">
                      <a16:creationId xmlns:a16="http://schemas.microsoft.com/office/drawing/2014/main" id="{A3C70AF3-B21F-92D0-7ED6-D9B876B36104}"/>
                    </a:ext>
                  </a:extLst>
                </p:cNvPr>
                <p:cNvSpPr/>
                <p:nvPr/>
              </p:nvSpPr>
              <p:spPr>
                <a:xfrm>
                  <a:off x="223385" y="2874907"/>
                  <a:ext cx="956914" cy="138019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2">
                    <a:lumMod val="50000"/>
                    <a:alpha val="10000"/>
                  </a:schemeClr>
                </a:solidFill>
                <a:ln w="12700"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CFD59E-52B6-3178-9210-8B680B2AC864}"/>
                  </a:ext>
                </a:extLst>
              </p:cNvPr>
              <p:cNvSpPr txBox="1"/>
              <p:nvPr/>
            </p:nvSpPr>
            <p:spPr>
              <a:xfrm>
                <a:off x="310548" y="2971062"/>
                <a:ext cx="7825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Client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0A944E5-C16B-F477-2F7F-D5660B7CB2B2}"/>
                </a:ext>
              </a:extLst>
            </p:cNvPr>
            <p:cNvGrpSpPr/>
            <p:nvPr/>
          </p:nvGrpSpPr>
          <p:grpSpPr>
            <a:xfrm>
              <a:off x="3269537" y="3036272"/>
              <a:ext cx="2088737" cy="1427313"/>
              <a:chOff x="2187950" y="2830362"/>
              <a:chExt cx="2088737" cy="1427313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830BA5E-4C85-CAD8-06DF-22D209690AB6}"/>
                  </a:ext>
                </a:extLst>
              </p:cNvPr>
              <p:cNvSpPr/>
              <p:nvPr/>
            </p:nvSpPr>
            <p:spPr>
              <a:xfrm>
                <a:off x="2187950" y="2830362"/>
                <a:ext cx="1908906" cy="14273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Electron Microscope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73853A8B-F272-2E14-F335-E1011653BD24}"/>
                  </a:ext>
                </a:extLst>
              </p:cNvPr>
              <p:cNvSpPr/>
              <p:nvPr/>
            </p:nvSpPr>
            <p:spPr>
              <a:xfrm>
                <a:off x="2367780" y="3552646"/>
                <a:ext cx="1908907" cy="527538"/>
              </a:xfrm>
              <a:prstGeom prst="roundRect">
                <a:avLst>
                  <a:gd name="adj" fmla="val 0"/>
                </a:avLst>
              </a:prstGeom>
              <a:solidFill>
                <a:srgbClr val="BCDEFB"/>
              </a:solidFill>
              <a:ln w="12700">
                <a:solidFill>
                  <a:srgbClr val="418ED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Instrument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7639A68-D1FC-65CB-BADF-7C5B7FAB8A6F}"/>
                </a:ext>
              </a:extLst>
            </p:cNvPr>
            <p:cNvGrpSpPr/>
            <p:nvPr/>
          </p:nvGrpSpPr>
          <p:grpSpPr>
            <a:xfrm>
              <a:off x="6977709" y="125384"/>
              <a:ext cx="2175477" cy="5351309"/>
              <a:chOff x="5375018" y="529730"/>
              <a:chExt cx="2175477" cy="5351309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B7316702-A908-A520-7927-B6BC641B5A80}"/>
                  </a:ext>
                </a:extLst>
              </p:cNvPr>
              <p:cNvSpPr/>
              <p:nvPr/>
            </p:nvSpPr>
            <p:spPr>
              <a:xfrm>
                <a:off x="5689139" y="4970550"/>
                <a:ext cx="1861355" cy="910489"/>
              </a:xfrm>
              <a:prstGeom prst="roundRect">
                <a:avLst>
                  <a:gd name="adj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 w="127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DT EELS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3D2BE37A-71F9-7DF9-5291-235867499B0B}"/>
                  </a:ext>
                </a:extLst>
              </p:cNvPr>
              <p:cNvSpPr/>
              <p:nvPr/>
            </p:nvSpPr>
            <p:spPr>
              <a:xfrm>
                <a:off x="5689139" y="3847574"/>
                <a:ext cx="1861355" cy="910489"/>
              </a:xfrm>
              <a:prstGeom prst="roundRect">
                <a:avLst>
                  <a:gd name="adj" fmla="val 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DT Corrector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6F76D3DF-925C-AE3F-5424-41B76458E0E0}"/>
                  </a:ext>
                </a:extLst>
              </p:cNvPr>
              <p:cNvSpPr/>
              <p:nvPr/>
            </p:nvSpPr>
            <p:spPr>
              <a:xfrm>
                <a:off x="5689140" y="2724598"/>
                <a:ext cx="1861355" cy="910489"/>
              </a:xfrm>
              <a:prstGeom prst="roundRect">
                <a:avLst>
                  <a:gd name="adj" fmla="val 0"/>
                </a:avLst>
              </a:prstGeom>
              <a:solidFill>
                <a:srgbClr val="F9BCD1"/>
              </a:solidFill>
              <a:ln w="12700">
                <a:solidFill>
                  <a:srgbClr val="CC467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DT Microscope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D280B11B-20B1-4C39-416F-388016C1D779}"/>
                  </a:ext>
                </a:extLst>
              </p:cNvPr>
              <p:cNvSpPr/>
              <p:nvPr/>
            </p:nvSpPr>
            <p:spPr>
              <a:xfrm>
                <a:off x="5689140" y="1627023"/>
                <a:ext cx="1861355" cy="910489"/>
              </a:xfrm>
              <a:prstGeom prst="roundRect">
                <a:avLst>
                  <a:gd name="adj" fmla="val 0"/>
                </a:avLst>
              </a:prstGeom>
              <a:solidFill>
                <a:srgbClr val="F9BCD1"/>
              </a:solidFill>
              <a:ln w="12700">
                <a:solidFill>
                  <a:srgbClr val="CC467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DT Stage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2285B662-3EFF-F5DB-6B36-BFD2CC7EC2CE}"/>
                  </a:ext>
                </a:extLst>
              </p:cNvPr>
              <p:cNvSpPr/>
              <p:nvPr/>
            </p:nvSpPr>
            <p:spPr>
              <a:xfrm>
                <a:off x="5689140" y="529730"/>
                <a:ext cx="1861355" cy="910489"/>
              </a:xfrm>
              <a:prstGeom prst="roundRect">
                <a:avLst>
                  <a:gd name="adj" fmla="val 0"/>
                </a:avLst>
              </a:prstGeom>
              <a:solidFill>
                <a:srgbClr val="F9BCD1"/>
              </a:solidFill>
              <a:ln w="12700">
                <a:solidFill>
                  <a:srgbClr val="CC467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DT Scan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53ED3074-BCE8-0217-8AFA-70752D57A968}"/>
                  </a:ext>
                </a:extLst>
              </p:cNvPr>
              <p:cNvSpPr/>
              <p:nvPr/>
            </p:nvSpPr>
            <p:spPr>
              <a:xfrm>
                <a:off x="5375020" y="1955475"/>
                <a:ext cx="1908907" cy="527538"/>
              </a:xfrm>
              <a:prstGeom prst="roundRect">
                <a:avLst>
                  <a:gd name="adj" fmla="val 0"/>
                </a:avLst>
              </a:prstGeom>
              <a:solidFill>
                <a:srgbClr val="BCDEFB"/>
              </a:solidFill>
              <a:ln w="12700">
                <a:solidFill>
                  <a:srgbClr val="418ED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Stage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EAACCE6D-3D93-88F5-72C9-ECCBE9EC28D7}"/>
                  </a:ext>
                </a:extLst>
              </p:cNvPr>
              <p:cNvSpPr/>
              <p:nvPr/>
            </p:nvSpPr>
            <p:spPr>
              <a:xfrm>
                <a:off x="5375018" y="5282340"/>
                <a:ext cx="1908907" cy="527538"/>
              </a:xfrm>
              <a:prstGeom prst="roundRect">
                <a:avLst>
                  <a:gd name="adj" fmla="val 0"/>
                </a:avLst>
              </a:prstGeom>
              <a:solidFill>
                <a:srgbClr val="BCDEFB"/>
              </a:solidFill>
              <a:ln w="12700">
                <a:solidFill>
                  <a:srgbClr val="418ED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EELS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ED6AD322-467E-9599-DE96-485F57BD547D}"/>
                  </a:ext>
                </a:extLst>
              </p:cNvPr>
              <p:cNvSpPr/>
              <p:nvPr/>
            </p:nvSpPr>
            <p:spPr>
              <a:xfrm>
                <a:off x="5375019" y="3064430"/>
                <a:ext cx="1908907" cy="527538"/>
              </a:xfrm>
              <a:prstGeom prst="roundRect">
                <a:avLst>
                  <a:gd name="adj" fmla="val 0"/>
                </a:avLst>
              </a:prstGeom>
              <a:solidFill>
                <a:srgbClr val="BCDEFB"/>
              </a:solidFill>
              <a:ln w="12700">
                <a:solidFill>
                  <a:srgbClr val="418ED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Microscope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F29DC597-F5AC-5799-A64B-8B4B6EB12D83}"/>
                  </a:ext>
                </a:extLst>
              </p:cNvPr>
              <p:cNvSpPr/>
              <p:nvPr/>
            </p:nvSpPr>
            <p:spPr>
              <a:xfrm>
                <a:off x="5375018" y="846520"/>
                <a:ext cx="1908907" cy="527538"/>
              </a:xfrm>
              <a:prstGeom prst="roundRect">
                <a:avLst>
                  <a:gd name="adj" fmla="val 0"/>
                </a:avLst>
              </a:prstGeom>
              <a:solidFill>
                <a:srgbClr val="BCDEFB"/>
              </a:solidFill>
              <a:ln w="12700">
                <a:solidFill>
                  <a:srgbClr val="418ED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Scan</a:t>
                </a:r>
              </a:p>
            </p:txBody>
          </p:sp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2D3574EB-09E1-6E0E-FA7A-943E01F98CC6}"/>
                  </a:ext>
                </a:extLst>
              </p:cNvPr>
              <p:cNvSpPr/>
              <p:nvPr/>
            </p:nvSpPr>
            <p:spPr>
              <a:xfrm>
                <a:off x="5375018" y="4173385"/>
                <a:ext cx="1908907" cy="527538"/>
              </a:xfrm>
              <a:prstGeom prst="roundRect">
                <a:avLst>
                  <a:gd name="adj" fmla="val 0"/>
                </a:avLst>
              </a:prstGeom>
              <a:solidFill>
                <a:srgbClr val="BCDEFB"/>
              </a:solidFill>
              <a:ln w="12700">
                <a:solidFill>
                  <a:srgbClr val="418ED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Aberration Corrector</a:t>
                </a:r>
              </a:p>
            </p:txBody>
          </p: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F3C99CD-B5A2-A164-40B2-E1641E28D803}"/>
                </a:ext>
              </a:extLst>
            </p:cNvPr>
            <p:cNvCxnSpPr>
              <a:cxnSpLocks/>
              <a:stCxn id="15" idx="3"/>
              <a:endCxn id="25" idx="1"/>
            </p:cNvCxnSpPr>
            <p:nvPr/>
          </p:nvCxnSpPr>
          <p:spPr>
            <a:xfrm flipV="1">
              <a:off x="5358274" y="705943"/>
              <a:ext cx="1619435" cy="331638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157F77A-69D2-2195-1223-2BE8BA97567B}"/>
                </a:ext>
              </a:extLst>
            </p:cNvPr>
            <p:cNvCxnSpPr>
              <a:cxnSpLocks/>
              <a:stCxn id="15" idx="3"/>
              <a:endCxn id="22" idx="1"/>
            </p:cNvCxnSpPr>
            <p:nvPr/>
          </p:nvCxnSpPr>
          <p:spPr>
            <a:xfrm flipV="1">
              <a:off x="5358274" y="1814898"/>
              <a:ext cx="1619437" cy="220742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7760EBF-82BC-30D6-F855-D800C8DF7796}"/>
                </a:ext>
              </a:extLst>
            </p:cNvPr>
            <p:cNvCxnSpPr>
              <a:cxnSpLocks/>
              <a:stCxn id="15" idx="3"/>
              <a:endCxn id="24" idx="1"/>
            </p:cNvCxnSpPr>
            <p:nvPr/>
          </p:nvCxnSpPr>
          <p:spPr>
            <a:xfrm flipV="1">
              <a:off x="5358274" y="2923853"/>
              <a:ext cx="1619436" cy="109847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0099B0F-D33D-0DEA-CE66-16184A7E6E79}"/>
                </a:ext>
              </a:extLst>
            </p:cNvPr>
            <p:cNvCxnSpPr>
              <a:cxnSpLocks/>
              <a:stCxn id="15" idx="3"/>
              <a:endCxn id="26" idx="1"/>
            </p:cNvCxnSpPr>
            <p:nvPr/>
          </p:nvCxnSpPr>
          <p:spPr>
            <a:xfrm>
              <a:off x="5358274" y="4022325"/>
              <a:ext cx="1619435" cy="1048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2236DC7-E1EE-4070-DA8D-8AFBF7C0FA77}"/>
                </a:ext>
              </a:extLst>
            </p:cNvPr>
            <p:cNvCxnSpPr>
              <a:cxnSpLocks/>
              <a:stCxn id="15" idx="3"/>
              <a:endCxn id="23" idx="1"/>
            </p:cNvCxnSpPr>
            <p:nvPr/>
          </p:nvCxnSpPr>
          <p:spPr>
            <a:xfrm>
              <a:off x="5358274" y="4022325"/>
              <a:ext cx="1619435" cy="111943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1321840-622F-8E5B-52CD-0C1F33FE919F}"/>
                </a:ext>
              </a:extLst>
            </p:cNvPr>
            <p:cNvGrpSpPr/>
            <p:nvPr/>
          </p:nvGrpSpPr>
          <p:grpSpPr>
            <a:xfrm>
              <a:off x="6977709" y="5689180"/>
              <a:ext cx="2175476" cy="1044740"/>
              <a:chOff x="2756514" y="5305267"/>
              <a:chExt cx="2175476" cy="1044740"/>
            </a:xfrm>
          </p:grpSpPr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85C4A5ED-37C8-53CD-9D27-79B98CA651DC}"/>
                  </a:ext>
                </a:extLst>
              </p:cNvPr>
              <p:cNvSpPr/>
              <p:nvPr/>
            </p:nvSpPr>
            <p:spPr>
              <a:xfrm>
                <a:off x="2756514" y="5305267"/>
                <a:ext cx="2007967" cy="1044740"/>
              </a:xfrm>
              <a:prstGeom prst="roundRect">
                <a:avLst>
                  <a:gd name="adj" fmla="val 0"/>
                </a:avLst>
              </a:prstGeom>
              <a:solidFill>
                <a:srgbClr val="BCDEFB"/>
              </a:solidFill>
              <a:ln w="12700">
                <a:solidFill>
                  <a:srgbClr val="418ED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Tiled Data Server</a:t>
                </a:r>
              </a:p>
            </p:txBody>
          </p:sp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7BDAAE91-6AF4-7F4A-4CAD-0C8449739143}"/>
                  </a:ext>
                </a:extLst>
              </p:cNvPr>
              <p:cNvSpPr/>
              <p:nvPr/>
            </p:nvSpPr>
            <p:spPr>
              <a:xfrm>
                <a:off x="3024667" y="5659544"/>
                <a:ext cx="1907323" cy="527538"/>
              </a:xfrm>
              <a:prstGeom prst="roundRect">
                <a:avLst>
                  <a:gd name="adj" fmla="val 0"/>
                </a:avLst>
              </a:prstGeom>
              <a:solidFill>
                <a:srgbClr val="FFE0B2"/>
              </a:solidFill>
              <a:ln w="12700">
                <a:solidFill>
                  <a:srgbClr val="FB9A2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Local data</a:t>
                </a:r>
              </a:p>
            </p:txBody>
          </p:sp>
        </p:grpSp>
        <p:sp>
          <p:nvSpPr>
            <p:cNvPr id="35" name="Bent-Up Arrow 34">
              <a:extLst>
                <a:ext uri="{FF2B5EF4-FFF2-40B4-BE49-F238E27FC236}">
                  <a16:creationId xmlns:a16="http://schemas.microsoft.com/office/drawing/2014/main" id="{43C3C92F-ABDA-02DE-739A-10F2DBF1352C}"/>
                </a:ext>
              </a:extLst>
            </p:cNvPr>
            <p:cNvSpPr/>
            <p:nvPr/>
          </p:nvSpPr>
          <p:spPr>
            <a:xfrm rot="5400000" flipV="1">
              <a:off x="9263693" y="5065089"/>
              <a:ext cx="1429230" cy="1582584"/>
            </a:xfrm>
            <a:prstGeom prst="bentUpArrow">
              <a:avLst>
                <a:gd name="adj1" fmla="val 12396"/>
                <a:gd name="adj2" fmla="val 17527"/>
                <a:gd name="adj3" fmla="val 20072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Bent-Up Arrow 35">
              <a:extLst>
                <a:ext uri="{FF2B5EF4-FFF2-40B4-BE49-F238E27FC236}">
                  <a16:creationId xmlns:a16="http://schemas.microsoft.com/office/drawing/2014/main" id="{49540A27-94AF-7730-BC37-A46A6ADDBE5C}"/>
                </a:ext>
              </a:extLst>
            </p:cNvPr>
            <p:cNvSpPr/>
            <p:nvPr/>
          </p:nvSpPr>
          <p:spPr>
            <a:xfrm rot="10800000" flipV="1">
              <a:off x="1701131" y="4530882"/>
              <a:ext cx="5225552" cy="1943407"/>
            </a:xfrm>
            <a:prstGeom prst="bentUpArrow">
              <a:avLst>
                <a:gd name="adj1" fmla="val 7019"/>
                <a:gd name="adj2" fmla="val 8971"/>
                <a:gd name="adj3" fmla="val 12281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99F4979-8C58-11D1-06DF-188B6DC153CA}"/>
                </a:ext>
              </a:extLst>
            </p:cNvPr>
            <p:cNvSpPr txBox="1"/>
            <p:nvPr/>
          </p:nvSpPr>
          <p:spPr>
            <a:xfrm>
              <a:off x="2066793" y="5596147"/>
              <a:ext cx="40152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Separate data pipeline allows faster, asynchronous data streaming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20F36D3-353A-960A-5FBC-2E184713FDC5}"/>
                </a:ext>
              </a:extLst>
            </p:cNvPr>
            <p:cNvCxnSpPr>
              <a:cxnSpLocks/>
              <a:stCxn id="12" idx="3"/>
              <a:endCxn id="14" idx="1"/>
            </p:cNvCxnSpPr>
            <p:nvPr/>
          </p:nvCxnSpPr>
          <p:spPr>
            <a:xfrm flipV="1">
              <a:off x="2417857" y="3749929"/>
              <a:ext cx="851680" cy="929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38399A3E-A8E1-3C38-D631-4B19102974FF}"/>
                </a:ext>
              </a:extLst>
            </p:cNvPr>
            <p:cNvSpPr/>
            <p:nvPr/>
          </p:nvSpPr>
          <p:spPr>
            <a:xfrm>
              <a:off x="3621020" y="1656129"/>
              <a:ext cx="2133086" cy="1105891"/>
            </a:xfrm>
            <a:prstGeom prst="roundRect">
              <a:avLst>
                <a:gd name="adj" fmla="val 0"/>
              </a:avLst>
            </a:prstGeom>
            <a:solidFill>
              <a:srgbClr val="FFE0B2"/>
            </a:solidFill>
            <a:ln w="12700">
              <a:solidFill>
                <a:srgbClr val="FB9A2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All communication (arrows) via </a:t>
              </a:r>
              <a:r>
                <a:rPr lang="en-US" dirty="0" err="1">
                  <a:solidFill>
                    <a:schemeClr val="tx1"/>
                  </a:solidFill>
                </a:rPr>
                <a:t>PyTango</a:t>
              </a:r>
              <a:r>
                <a:rPr lang="en-US" dirty="0">
                  <a:solidFill>
                    <a:schemeClr val="tx1"/>
                  </a:solidFill>
                </a:rPr>
                <a:t> database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9E72BFC-065E-3892-3454-718379D3231A}"/>
                </a:ext>
              </a:extLst>
            </p:cNvPr>
            <p:cNvCxnSpPr>
              <a:cxnSpLocks/>
              <a:stCxn id="7" idx="3"/>
              <a:endCxn id="39" idx="1"/>
            </p:cNvCxnSpPr>
            <p:nvPr/>
          </p:nvCxnSpPr>
          <p:spPr>
            <a:xfrm>
              <a:off x="2641340" y="1506051"/>
              <a:ext cx="979680" cy="70302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9053E7B-B0A6-5A09-29D8-302579B3AFDA}"/>
                </a:ext>
              </a:extLst>
            </p:cNvPr>
            <p:cNvCxnSpPr>
              <a:cxnSpLocks/>
              <a:stCxn id="6" idx="0"/>
              <a:endCxn id="7" idx="2"/>
            </p:cNvCxnSpPr>
            <p:nvPr/>
          </p:nvCxnSpPr>
          <p:spPr>
            <a:xfrm flipV="1">
              <a:off x="1939834" y="1961295"/>
              <a:ext cx="0" cy="26482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6DB1D15-210E-3404-5C7F-D0FBAC9E1E7A}"/>
                </a:ext>
              </a:extLst>
            </p:cNvPr>
            <p:cNvCxnSpPr>
              <a:cxnSpLocks/>
              <a:stCxn id="12" idx="0"/>
              <a:endCxn id="6" idx="2"/>
            </p:cNvCxnSpPr>
            <p:nvPr/>
          </p:nvCxnSpPr>
          <p:spPr>
            <a:xfrm flipV="1">
              <a:off x="1939400" y="2753659"/>
              <a:ext cx="434" cy="31546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4066E84-D33E-1807-A367-49728AA68A55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9153186" y="580629"/>
              <a:ext cx="82512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021966A-2EBC-9AA7-E73A-3E4E2EB6B5FF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 flipV="1">
              <a:off x="9153186" y="1677921"/>
              <a:ext cx="825122" cy="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C98C9F3-5014-46BC-9754-075334468013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 flipV="1">
              <a:off x="9153186" y="2775012"/>
              <a:ext cx="412561" cy="48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52AA266-C315-D631-FD07-AE50C53F3326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>
              <a:off x="9153185" y="3898473"/>
              <a:ext cx="897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E657F40-642E-526D-5E58-1033412546D5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V="1">
              <a:off x="9153185" y="5021448"/>
              <a:ext cx="897400" cy="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D9DBCA7-5E74-B81B-9AE5-0706BA37CB6C}"/>
                </a:ext>
              </a:extLst>
            </p:cNvPr>
            <p:cNvSpPr txBox="1"/>
            <p:nvPr/>
          </p:nvSpPr>
          <p:spPr>
            <a:xfrm>
              <a:off x="10835475" y="5377974"/>
              <a:ext cx="135652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Model</a:t>
              </a:r>
            </a:p>
            <a:p>
              <a:pPr algn="ctr"/>
              <a:r>
                <a:rPr lang="en-US" dirty="0"/>
                <a:t>Microscope</a:t>
              </a:r>
            </a:p>
            <a:p>
              <a:pPr algn="ctr"/>
              <a:r>
                <a:rPr lang="en-US" dirty="0"/>
                <a:t>(</a:t>
              </a:r>
              <a:r>
                <a:rPr lang="en-US" dirty="0" err="1"/>
                <a:t>abTEM</a:t>
              </a:r>
              <a:r>
                <a:rPr lang="en-US" dirty="0"/>
                <a:t>)</a:t>
              </a:r>
            </a:p>
          </p:txBody>
        </p: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02A637CC-5637-902F-1D0D-9DC1C7FFE7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53"/>
          <a:stretch>
            <a:fillRect/>
          </a:stretch>
        </p:blipFill>
        <p:spPr>
          <a:xfrm>
            <a:off x="9613011" y="525402"/>
            <a:ext cx="3051107" cy="453759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50E1389-60E7-12E2-C37F-3C02EBDF2CE3}"/>
              </a:ext>
            </a:extLst>
          </p:cNvPr>
          <p:cNvCxnSpPr/>
          <p:nvPr/>
        </p:nvCxnSpPr>
        <p:spPr>
          <a:xfrm>
            <a:off x="5575176" y="2516819"/>
            <a:ext cx="1828800" cy="18288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87DC2B91-B1F9-1F3B-B42A-439E94380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CFBF9"/>
              </a:clrFrom>
              <a:clrTo>
                <a:srgbClr val="FCFBF9">
                  <a:alpha val="0"/>
                </a:srgbClr>
              </a:clrTo>
            </a:clrChange>
          </a:blip>
          <a:srcRect l="-26" t="50000" r="67922" b="-56"/>
          <a:stretch>
            <a:fillRect/>
          </a:stretch>
        </p:blipFill>
        <p:spPr>
          <a:xfrm>
            <a:off x="-97657" y="5637319"/>
            <a:ext cx="1152787" cy="1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63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D33AA-C044-24EB-6BE7-A1A6451D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887" y="0"/>
            <a:ext cx="10058400" cy="1143000"/>
          </a:xfrm>
        </p:spPr>
        <p:txBody>
          <a:bodyPr/>
          <a:lstStyle/>
          <a:p>
            <a:r>
              <a:rPr lang="en-US" dirty="0"/>
              <a:t>Starting the servers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4A024-DAC8-28E1-C8BB-807E2DE47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B29BB-9BE4-F842-B14B-FDC755B9CEFD}" type="slidenum">
              <a:rPr lang="en-US" smtClean="0"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5E9E20-6ADE-F913-75B3-DF1C882495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4" r="588"/>
          <a:stretch>
            <a:fillRect/>
          </a:stretch>
        </p:blipFill>
        <p:spPr>
          <a:xfrm>
            <a:off x="1104964" y="1142999"/>
            <a:ext cx="5295232" cy="56630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2B5D6D-3B53-F407-A75A-85389BDE1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204" y="1100960"/>
            <a:ext cx="5341671" cy="56630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33619E-265E-787C-5FBD-5D47EC1B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CFBF9"/>
              </a:clrFrom>
              <a:clrTo>
                <a:srgbClr val="FCFBF9">
                  <a:alpha val="0"/>
                </a:srgbClr>
              </a:clrTo>
            </a:clrChange>
          </a:blip>
          <a:srcRect l="-26" t="50000" r="67922" b="-56"/>
          <a:stretch>
            <a:fillRect/>
          </a:stretch>
        </p:blipFill>
        <p:spPr>
          <a:xfrm>
            <a:off x="-97657" y="5637319"/>
            <a:ext cx="1152787" cy="1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430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3124-DF4B-EBE0-2641-7CB8170A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Cloudified Instruments at UTK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39253-0D1A-BEA2-7EFE-2C500660E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3091" y="1946429"/>
            <a:ext cx="9433018" cy="3477827"/>
          </a:xfrm>
        </p:spPr>
        <p:txBody>
          <a:bodyPr/>
          <a:lstStyle/>
          <a:p>
            <a:r>
              <a:rPr lang="en-US" sz="3600" dirty="0"/>
              <a:t>TEM/STEM Spectra 300, </a:t>
            </a:r>
            <a:r>
              <a:rPr lang="en-US" sz="3600" dirty="0" err="1"/>
              <a:t>Thermo</a:t>
            </a:r>
            <a:r>
              <a:rPr lang="en-US" sz="3600" dirty="0"/>
              <a:t> Fisher</a:t>
            </a:r>
          </a:p>
          <a:p>
            <a:r>
              <a:rPr lang="en-US" sz="3600" dirty="0"/>
              <a:t>SPM Jupiter, Oxford Instruments</a:t>
            </a:r>
          </a:p>
          <a:p>
            <a:r>
              <a:rPr lang="en-US" sz="3600" dirty="0"/>
              <a:t>SPM Cypher, Oxford Instruments</a:t>
            </a:r>
          </a:p>
          <a:p>
            <a:r>
              <a:rPr lang="en-US" sz="3600" dirty="0"/>
              <a:t>Nano Indenter, KLA</a:t>
            </a:r>
          </a:p>
          <a:p>
            <a:r>
              <a:rPr lang="en-US" sz="3600" dirty="0"/>
              <a:t>SPM/SEM </a:t>
            </a:r>
            <a:r>
              <a:rPr lang="en-US" sz="3600" dirty="0" err="1"/>
              <a:t>FusionScope</a:t>
            </a:r>
            <a:r>
              <a:rPr lang="en-US" sz="3600" dirty="0"/>
              <a:t>, </a:t>
            </a:r>
            <a:r>
              <a:rPr lang="en-US" sz="3600" dirty="0" err="1"/>
              <a:t>QuantumDesign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93DE4-B241-AE3C-2054-251E37C85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CFBF9"/>
              </a:clrFrom>
              <a:clrTo>
                <a:srgbClr val="FCFBF9">
                  <a:alpha val="0"/>
                </a:srgbClr>
              </a:clrTo>
            </a:clrChange>
          </a:blip>
          <a:srcRect l="-26" t="50000" r="67922" b="-56"/>
          <a:stretch>
            <a:fillRect/>
          </a:stretch>
        </p:blipFill>
        <p:spPr>
          <a:xfrm>
            <a:off x="-97657" y="5637319"/>
            <a:ext cx="1152787" cy="1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91334"/>
      </p:ext>
    </p:extLst>
  </p:cSld>
  <p:clrMapOvr>
    <a:masterClrMapping/>
  </p:clrMapOvr>
</p:sld>
</file>

<file path=ppt/theme/theme1.xml><?xml version="1.0" encoding="utf-8"?>
<a:theme xmlns:a="http://schemas.openxmlformats.org/drawingml/2006/main" name="UTK_Theme1">
  <a:themeElements>
    <a:clrScheme name="Brand1">
      <a:dk1>
        <a:srgbClr val="333333"/>
      </a:dk1>
      <a:lt1>
        <a:sysClr val="window" lastClr="FFFFFF"/>
      </a:lt1>
      <a:dk2>
        <a:srgbClr val="1F497D"/>
      </a:dk2>
      <a:lt2>
        <a:srgbClr val="EEECE1"/>
      </a:lt2>
      <a:accent1>
        <a:srgbClr val="006666"/>
      </a:accent1>
      <a:accent2>
        <a:srgbClr val="FF3300"/>
      </a:accent2>
      <a:accent3>
        <a:srgbClr val="FFCC33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TK_Theme1" id="{378135AB-B346-44EA-9BF6-044F98AC7671}" vid="{DF6FB827-7F51-4358-89D2-04B620FFCD45}"/>
    </a:ext>
  </a:extLst>
</a:theme>
</file>

<file path=ppt/theme/theme2.xml><?xml version="1.0" encoding="utf-8"?>
<a:theme xmlns:a="http://schemas.openxmlformats.org/drawingml/2006/main" name="Content: Meta Inf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UTK_Theme1</Template>
  <TotalTime>46244</TotalTime>
  <Words>315</Words>
  <Application>Microsoft Office PowerPoint</Application>
  <PresentationFormat>Widescreen</PresentationFormat>
  <Paragraphs>88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Georgia</vt:lpstr>
      <vt:lpstr>Times New Roman</vt:lpstr>
      <vt:lpstr>Wingdings</vt:lpstr>
      <vt:lpstr>UTK_Theme1</vt:lpstr>
      <vt:lpstr>Content: Meta Info</vt:lpstr>
      <vt:lpstr>Building ML Controlled Instruments</vt:lpstr>
      <vt:lpstr>Motivation and Advantages of pyTango</vt:lpstr>
      <vt:lpstr>But: Many Manufacturers!</vt:lpstr>
      <vt:lpstr>Asyncroscopy framework</vt:lpstr>
      <vt:lpstr>Digital Twins</vt:lpstr>
      <vt:lpstr>Starting the servers</vt:lpstr>
      <vt:lpstr>Cloudified Instruments at UTK</vt:lpstr>
    </vt:vector>
  </TitlesOfParts>
  <Company>University of Tennessee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ahmadi.mahshid@gmail.com</dc:creator>
  <cp:lastModifiedBy>Duscher, Gerd</cp:lastModifiedBy>
  <cp:revision>255</cp:revision>
  <dcterms:created xsi:type="dcterms:W3CDTF">2018-08-24T20:48:18Z</dcterms:created>
  <dcterms:modified xsi:type="dcterms:W3CDTF">2026-08-29T20:06:51Z</dcterms:modified>
</cp:coreProperties>
</file>